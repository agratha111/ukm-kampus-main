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Playfair Display" charset="1" panose="00000000000000000000"/>
      <p:regular r:id="rId24"/>
    </p:embeddedFont>
    <p:embeddedFont>
      <p:font typeface="Playfair Display Italics" charset="1" panose="00000000000000000000"/>
      <p:regular r:id="rId25"/>
    </p:embeddedFont>
    <p:embeddedFont>
      <p:font typeface="Arial" charset="1" panose="020B0604020202020204"/>
      <p:regular r:id="rId26"/>
    </p:embeddedFont>
    <p:embeddedFont>
      <p:font typeface="Glacial Indifference" charset="1" panose="00000000000000000000"/>
      <p:regular r:id="rId27"/>
    </p:embeddedFont>
    <p:embeddedFont>
      <p:font typeface="Glacial Indifference Bold" charset="1" panose="00000800000000000000"/>
      <p:regular r:id="rId28"/>
    </p:embeddedFont>
    <p:embeddedFont>
      <p:font typeface="Canva Sans Bold" charset="1" panose="020B08030305010401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grpSp>
        <p:nvGrpSpPr>
          <p:cNvPr name="Group 66" id="66"/>
          <p:cNvGrpSpPr/>
          <p:nvPr/>
        </p:nvGrpSpPr>
        <p:grpSpPr>
          <a:xfrm rot="327744">
            <a:off x="445657" y="1737466"/>
            <a:ext cx="17396687" cy="5898715"/>
            <a:chOff x="0" y="0"/>
            <a:chExt cx="2669793" cy="905250"/>
          </a:xfrm>
        </p:grpSpPr>
        <p:sp>
          <p:nvSpPr>
            <p:cNvPr name="Freeform 67" id="67"/>
            <p:cNvSpPr/>
            <p:nvPr/>
          </p:nvSpPr>
          <p:spPr>
            <a:xfrm flipH="false" flipV="false" rot="0">
              <a:off x="0" y="0"/>
              <a:ext cx="2669792" cy="905250"/>
            </a:xfrm>
            <a:custGeom>
              <a:avLst/>
              <a:gdLst/>
              <a:ahLst/>
              <a:cxnLst/>
              <a:rect r="r" b="b" t="t" l="l"/>
              <a:pathLst>
                <a:path h="905250" w="2669792">
                  <a:moveTo>
                    <a:pt x="1334896" y="0"/>
                  </a:moveTo>
                  <a:cubicBezTo>
                    <a:pt x="597653" y="0"/>
                    <a:pt x="0" y="202647"/>
                    <a:pt x="0" y="452625"/>
                  </a:cubicBezTo>
                  <a:cubicBezTo>
                    <a:pt x="0" y="702603"/>
                    <a:pt x="597653" y="905250"/>
                    <a:pt x="1334896" y="905250"/>
                  </a:cubicBezTo>
                  <a:cubicBezTo>
                    <a:pt x="2072139" y="905250"/>
                    <a:pt x="2669792" y="702603"/>
                    <a:pt x="2669792" y="452625"/>
                  </a:cubicBezTo>
                  <a:cubicBezTo>
                    <a:pt x="2669792" y="202647"/>
                    <a:pt x="2072139" y="0"/>
                    <a:pt x="1334896" y="0"/>
                  </a:cubicBezTo>
                  <a:close/>
                </a:path>
              </a:pathLst>
            </a:custGeom>
            <a:ln w="19050" cap="sq">
              <a:solidFill>
                <a:srgbClr val="000000"/>
              </a:solidFill>
              <a:prstDash val="solid"/>
              <a:miter/>
            </a:ln>
          </p:spPr>
        </p:sp>
        <p:sp>
          <p:nvSpPr>
            <p:cNvPr name="TextBox 68" id="68"/>
            <p:cNvSpPr txBox="true"/>
            <p:nvPr/>
          </p:nvSpPr>
          <p:spPr>
            <a:xfrm>
              <a:off x="250293" y="46767"/>
              <a:ext cx="2169206" cy="773615"/>
            </a:xfrm>
            <a:prstGeom prst="rect">
              <a:avLst/>
            </a:prstGeom>
          </p:spPr>
          <p:txBody>
            <a:bodyPr anchor="ctr" rtlCol="false" tIns="50800" lIns="50800" bIns="50800" rIns="50800"/>
            <a:lstStyle/>
            <a:p>
              <a:pPr algn="ctr">
                <a:lnSpc>
                  <a:spcPts val="2659"/>
                </a:lnSpc>
                <a:spcBef>
                  <a:spcPct val="0"/>
                </a:spcBef>
              </a:pPr>
            </a:p>
          </p:txBody>
        </p:sp>
      </p:grpSp>
      <p:sp>
        <p:nvSpPr>
          <p:cNvPr name="TextBox 69" id="69"/>
          <p:cNvSpPr txBox="true"/>
          <p:nvPr/>
        </p:nvSpPr>
        <p:spPr>
          <a:xfrm rot="0">
            <a:off x="1458316" y="8339997"/>
            <a:ext cx="15371368" cy="1274769"/>
          </a:xfrm>
          <a:prstGeom prst="rect">
            <a:avLst/>
          </a:prstGeom>
        </p:spPr>
        <p:txBody>
          <a:bodyPr anchor="t" rtlCol="false" tIns="0" lIns="0" bIns="0" rIns="0">
            <a:spAutoFit/>
          </a:bodyPr>
          <a:lstStyle/>
          <a:p>
            <a:pPr algn="ctr">
              <a:lnSpc>
                <a:spcPts val="3275"/>
              </a:lnSpc>
            </a:pPr>
            <a:r>
              <a:rPr lang="en-US" sz="4093" spc="-262">
                <a:solidFill>
                  <a:srgbClr val="000000"/>
                </a:solidFill>
                <a:latin typeface="Playfair Display"/>
                <a:ea typeface="Playfair Display"/>
                <a:cs typeface="Playfair Display"/>
                <a:sym typeface="Playfair Display"/>
              </a:rPr>
              <a:t>PERAN</a:t>
            </a:r>
            <a:r>
              <a:rPr lang="en-US" sz="4093" spc="-262">
                <a:solidFill>
                  <a:srgbClr val="000000"/>
                </a:solidFill>
                <a:latin typeface="Playfair Display"/>
                <a:ea typeface="Playfair Display"/>
                <a:cs typeface="Playfair Display"/>
                <a:sym typeface="Playfair Display"/>
              </a:rPr>
              <a:t>CANGAN BANGUN SISTEM INFORMASI PORTAL INFORMASI </a:t>
            </a:r>
          </a:p>
          <a:p>
            <a:pPr algn="ctr">
              <a:lnSpc>
                <a:spcPts val="3275"/>
              </a:lnSpc>
            </a:pPr>
          </a:p>
          <a:p>
            <a:pPr algn="ctr">
              <a:lnSpc>
                <a:spcPts val="3275"/>
              </a:lnSpc>
            </a:pPr>
            <a:r>
              <a:rPr lang="en-US" sz="4093" spc="-262">
                <a:solidFill>
                  <a:srgbClr val="000000"/>
                </a:solidFill>
                <a:latin typeface="Playfair Display"/>
                <a:ea typeface="Playfair Display"/>
                <a:cs typeface="Playfair Display"/>
                <a:sym typeface="Playfair Display"/>
              </a:rPr>
              <a:t>DAN PENDAFTARAN UKM BERBASIS WEB</a:t>
            </a:r>
          </a:p>
        </p:txBody>
      </p:sp>
      <p:grpSp>
        <p:nvGrpSpPr>
          <p:cNvPr name="Group 70" id="70"/>
          <p:cNvGrpSpPr/>
          <p:nvPr/>
        </p:nvGrpSpPr>
        <p:grpSpPr>
          <a:xfrm rot="0">
            <a:off x="3334014" y="1721800"/>
            <a:ext cx="959883" cy="940685"/>
            <a:chOff x="0" y="0"/>
            <a:chExt cx="635000" cy="622300"/>
          </a:xfrm>
        </p:grpSpPr>
        <p:sp>
          <p:nvSpPr>
            <p:cNvPr name="Freeform 71" id="71"/>
            <p:cNvSpPr/>
            <p:nvPr/>
          </p:nvSpPr>
          <p:spPr>
            <a:xfrm flipH="false" flipV="false" rot="0">
              <a:off x="0" y="0"/>
              <a:ext cx="635000" cy="622300"/>
            </a:xfrm>
            <a:custGeom>
              <a:avLst/>
              <a:gdLst/>
              <a:ahLst/>
              <a:cxnLst/>
              <a:rect r="r" b="b" t="t" l="l"/>
              <a:pathLst>
                <a:path h="622300" w="635000">
                  <a:moveTo>
                    <a:pt x="547370" y="62230"/>
                  </a:moveTo>
                  <a:lnTo>
                    <a:pt x="401320" y="267970"/>
                  </a:lnTo>
                  <a:lnTo>
                    <a:pt x="635000" y="346710"/>
                  </a:lnTo>
                  <a:lnTo>
                    <a:pt x="605790" y="445770"/>
                  </a:lnTo>
                  <a:lnTo>
                    <a:pt x="369570" y="367030"/>
                  </a:lnTo>
                  <a:lnTo>
                    <a:pt x="369570" y="622300"/>
                  </a:lnTo>
                  <a:lnTo>
                    <a:pt x="267970" y="622300"/>
                  </a:lnTo>
                  <a:lnTo>
                    <a:pt x="267970" y="367030"/>
                  </a:lnTo>
                  <a:lnTo>
                    <a:pt x="31750" y="445770"/>
                  </a:lnTo>
                  <a:lnTo>
                    <a:pt x="0" y="346710"/>
                  </a:lnTo>
                  <a:lnTo>
                    <a:pt x="236220" y="267970"/>
                  </a:lnTo>
                  <a:lnTo>
                    <a:pt x="90170" y="62230"/>
                  </a:lnTo>
                  <a:lnTo>
                    <a:pt x="172720" y="0"/>
                  </a:lnTo>
                  <a:lnTo>
                    <a:pt x="318770" y="205740"/>
                  </a:lnTo>
                  <a:lnTo>
                    <a:pt x="464820" y="0"/>
                  </a:lnTo>
                  <a:lnTo>
                    <a:pt x="547370" y="62230"/>
                  </a:lnTo>
                  <a:close/>
                </a:path>
              </a:pathLst>
            </a:custGeom>
            <a:solidFill>
              <a:srgbClr val="000000"/>
            </a:solidFill>
          </p:spPr>
        </p:sp>
        <p:sp>
          <p:nvSpPr>
            <p:cNvPr name="TextBox 72" id="72"/>
            <p:cNvSpPr txBox="true"/>
            <p:nvPr/>
          </p:nvSpPr>
          <p:spPr>
            <a:xfrm>
              <a:off x="146050" y="101600"/>
              <a:ext cx="342900" cy="381000"/>
            </a:xfrm>
            <a:prstGeom prst="rect">
              <a:avLst/>
            </a:prstGeom>
          </p:spPr>
          <p:txBody>
            <a:bodyPr anchor="ctr" rtlCol="false" tIns="50800" lIns="50800" bIns="50800" rIns="50800"/>
            <a:lstStyle/>
            <a:p>
              <a:pPr algn="ctr">
                <a:lnSpc>
                  <a:spcPts val="2700"/>
                </a:lnSpc>
              </a:pPr>
            </a:p>
          </p:txBody>
        </p:sp>
      </p:grpSp>
      <p:sp>
        <p:nvSpPr>
          <p:cNvPr name="TextBox 73" id="73"/>
          <p:cNvSpPr txBox="true"/>
          <p:nvPr/>
        </p:nvSpPr>
        <p:spPr>
          <a:xfrm rot="0">
            <a:off x="1928421" y="3938892"/>
            <a:ext cx="18983181" cy="3349807"/>
          </a:xfrm>
          <a:prstGeom prst="rect">
            <a:avLst/>
          </a:prstGeom>
        </p:spPr>
        <p:txBody>
          <a:bodyPr anchor="t" rtlCol="false" tIns="0" lIns="0" bIns="0" rIns="0">
            <a:spAutoFit/>
          </a:bodyPr>
          <a:lstStyle/>
          <a:p>
            <a:pPr algn="l">
              <a:lnSpc>
                <a:spcPts val="13072"/>
              </a:lnSpc>
            </a:pPr>
            <a:r>
              <a:rPr lang="en-US" sz="16340" i="true" spc="-1045">
                <a:solidFill>
                  <a:srgbClr val="000000"/>
                </a:solidFill>
                <a:latin typeface="Playfair Display Italics"/>
                <a:ea typeface="Playfair Display Italics"/>
                <a:cs typeface="Playfair Display Italics"/>
                <a:sym typeface="Playfair Display Italics"/>
              </a:rPr>
              <a:t>IPWIJA UKM Hub</a:t>
            </a:r>
          </a:p>
          <a:p>
            <a:pPr algn="l">
              <a:lnSpc>
                <a:spcPts val="12033"/>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l">
                  <a:lnSpc>
                    <a:spcPts val="2659"/>
                  </a:lnSpc>
                </a:pPr>
              </a:p>
            </p:txBody>
          </p:sp>
        </p:grpSp>
      </p:grpSp>
      <p:sp>
        <p:nvSpPr>
          <p:cNvPr name="TextBox 66" id="66"/>
          <p:cNvSpPr txBox="true"/>
          <p:nvPr/>
        </p:nvSpPr>
        <p:spPr>
          <a:xfrm rot="0">
            <a:off x="6890026" y="6122129"/>
            <a:ext cx="1147083"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(04)</a:t>
            </a:r>
          </a:p>
        </p:txBody>
      </p:sp>
      <p:sp>
        <p:nvSpPr>
          <p:cNvPr name="TextBox 67" id="67"/>
          <p:cNvSpPr txBox="true"/>
          <p:nvPr/>
        </p:nvSpPr>
        <p:spPr>
          <a:xfrm rot="0">
            <a:off x="1913941" y="7356475"/>
            <a:ext cx="4366485"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Project Overview</a:t>
            </a:r>
          </a:p>
        </p:txBody>
      </p:sp>
      <p:sp>
        <p:nvSpPr>
          <p:cNvPr name="TextBox 68" id="68"/>
          <p:cNvSpPr txBox="true"/>
          <p:nvPr/>
        </p:nvSpPr>
        <p:spPr>
          <a:xfrm rot="0">
            <a:off x="7775267" y="7356475"/>
            <a:ext cx="4369533"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Ta</a:t>
            </a:r>
            <a:r>
              <a:rPr lang="en-US" sz="2499" spc="-159">
                <a:solidFill>
                  <a:srgbClr val="FCFBF6"/>
                </a:solidFill>
                <a:latin typeface="Arial"/>
                <a:ea typeface="Arial"/>
                <a:cs typeface="Arial"/>
                <a:sym typeface="Arial"/>
              </a:rPr>
              <a:t>rget Audience</a:t>
            </a:r>
          </a:p>
        </p:txBody>
      </p:sp>
      <p:sp>
        <p:nvSpPr>
          <p:cNvPr name="TextBox 69" id="69"/>
          <p:cNvSpPr txBox="true"/>
          <p:nvPr/>
        </p:nvSpPr>
        <p:spPr>
          <a:xfrm rot="0">
            <a:off x="6890026" y="7356475"/>
            <a:ext cx="1147083"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(05)</a:t>
            </a:r>
          </a:p>
        </p:txBody>
      </p:sp>
      <p:sp>
        <p:nvSpPr>
          <p:cNvPr name="TextBox 70" id="70"/>
          <p:cNvSpPr txBox="true"/>
          <p:nvPr/>
        </p:nvSpPr>
        <p:spPr>
          <a:xfrm rot="0">
            <a:off x="1913941" y="8588375"/>
            <a:ext cx="4366485"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Ab</a:t>
            </a:r>
            <a:r>
              <a:rPr lang="en-US" sz="2499" spc="-159">
                <a:solidFill>
                  <a:srgbClr val="FCFBF6"/>
                </a:solidFill>
                <a:latin typeface="Arial"/>
                <a:ea typeface="Arial"/>
                <a:cs typeface="Arial"/>
                <a:sym typeface="Arial"/>
              </a:rPr>
              <a:t>out The Brand</a:t>
            </a:r>
          </a:p>
        </p:txBody>
      </p:sp>
      <p:sp>
        <p:nvSpPr>
          <p:cNvPr name="TextBox 71" id="71"/>
          <p:cNvSpPr txBox="true"/>
          <p:nvPr/>
        </p:nvSpPr>
        <p:spPr>
          <a:xfrm rot="0">
            <a:off x="1028700" y="8588375"/>
            <a:ext cx="1400964"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(03)</a:t>
            </a:r>
          </a:p>
        </p:txBody>
      </p:sp>
      <p:sp>
        <p:nvSpPr>
          <p:cNvPr name="TextBox 72" id="72"/>
          <p:cNvSpPr txBox="true"/>
          <p:nvPr/>
        </p:nvSpPr>
        <p:spPr>
          <a:xfrm rot="0">
            <a:off x="7775267" y="8588375"/>
            <a:ext cx="4369533"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K</a:t>
            </a:r>
            <a:r>
              <a:rPr lang="en-US" sz="2499" spc="-159">
                <a:solidFill>
                  <a:srgbClr val="FCFBF6"/>
                </a:solidFill>
                <a:latin typeface="Arial"/>
                <a:ea typeface="Arial"/>
                <a:cs typeface="Arial"/>
                <a:sym typeface="Arial"/>
              </a:rPr>
              <a:t>ey Message</a:t>
            </a:r>
          </a:p>
        </p:txBody>
      </p:sp>
      <p:sp>
        <p:nvSpPr>
          <p:cNvPr name="TextBox 73" id="73"/>
          <p:cNvSpPr txBox="true"/>
          <p:nvPr/>
        </p:nvSpPr>
        <p:spPr>
          <a:xfrm rot="0">
            <a:off x="6890026" y="8588375"/>
            <a:ext cx="1147083"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(06)</a:t>
            </a:r>
          </a:p>
        </p:txBody>
      </p:sp>
      <p:sp>
        <p:nvSpPr>
          <p:cNvPr name="AutoShape 74" id="74"/>
          <p:cNvSpPr/>
          <p:nvPr/>
        </p:nvSpPr>
        <p:spPr>
          <a:xfrm>
            <a:off x="0" y="6861175"/>
            <a:ext cx="18288000" cy="0"/>
          </a:xfrm>
          <a:prstGeom prst="line">
            <a:avLst/>
          </a:prstGeom>
          <a:ln cap="flat" w="19050">
            <a:solidFill>
              <a:srgbClr val="FCFBF6"/>
            </a:solidFill>
            <a:prstDash val="solid"/>
            <a:headEnd type="none" len="sm" w="sm"/>
            <a:tailEnd type="none" len="sm" w="sm"/>
          </a:ln>
        </p:spPr>
      </p:sp>
      <p:sp>
        <p:nvSpPr>
          <p:cNvPr name="AutoShape 75" id="75"/>
          <p:cNvSpPr/>
          <p:nvPr/>
        </p:nvSpPr>
        <p:spPr>
          <a:xfrm>
            <a:off x="0" y="8054975"/>
            <a:ext cx="18288000" cy="0"/>
          </a:xfrm>
          <a:prstGeom prst="line">
            <a:avLst/>
          </a:prstGeom>
          <a:ln cap="flat" w="19050">
            <a:solidFill>
              <a:srgbClr val="FCFBF6"/>
            </a:solidFill>
            <a:prstDash val="solid"/>
            <a:headEnd type="none" len="sm" w="sm"/>
            <a:tailEnd type="none" len="sm" w="sm"/>
          </a:ln>
        </p:spPr>
      </p:sp>
      <p:sp>
        <p:nvSpPr>
          <p:cNvPr name="AutoShape 76" id="76"/>
          <p:cNvSpPr/>
          <p:nvPr/>
        </p:nvSpPr>
        <p:spPr>
          <a:xfrm>
            <a:off x="0" y="9248775"/>
            <a:ext cx="18288000" cy="0"/>
          </a:xfrm>
          <a:prstGeom prst="line">
            <a:avLst/>
          </a:prstGeom>
          <a:ln cap="flat" w="19050">
            <a:solidFill>
              <a:srgbClr val="FCFBF6"/>
            </a:solidFill>
            <a:prstDash val="solid"/>
            <a:headEnd type="none" len="sm" w="sm"/>
            <a:tailEnd type="none" len="sm" w="sm"/>
          </a:ln>
        </p:spPr>
      </p:sp>
      <p:sp>
        <p:nvSpPr>
          <p:cNvPr name="TextBox 77" id="77"/>
          <p:cNvSpPr txBox="true"/>
          <p:nvPr/>
        </p:nvSpPr>
        <p:spPr>
          <a:xfrm rot="0">
            <a:off x="12751352" y="6122129"/>
            <a:ext cx="980491"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(07)</a:t>
            </a:r>
          </a:p>
        </p:txBody>
      </p:sp>
      <p:sp>
        <p:nvSpPr>
          <p:cNvPr name="TextBox 78" id="78"/>
          <p:cNvSpPr txBox="true"/>
          <p:nvPr/>
        </p:nvSpPr>
        <p:spPr>
          <a:xfrm rot="0">
            <a:off x="13636594" y="7356475"/>
            <a:ext cx="4815376"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Budg</a:t>
            </a:r>
            <a:r>
              <a:rPr lang="en-US" sz="2499" spc="-159">
                <a:solidFill>
                  <a:srgbClr val="FCFBF6"/>
                </a:solidFill>
                <a:latin typeface="Arial"/>
                <a:ea typeface="Arial"/>
                <a:cs typeface="Arial"/>
                <a:sym typeface="Arial"/>
              </a:rPr>
              <a:t>et Overview</a:t>
            </a:r>
          </a:p>
        </p:txBody>
      </p:sp>
      <p:sp>
        <p:nvSpPr>
          <p:cNvPr name="TextBox 79" id="79"/>
          <p:cNvSpPr txBox="true"/>
          <p:nvPr/>
        </p:nvSpPr>
        <p:spPr>
          <a:xfrm rot="0">
            <a:off x="12751352" y="7356475"/>
            <a:ext cx="980491"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(08)</a:t>
            </a:r>
          </a:p>
        </p:txBody>
      </p:sp>
      <p:sp>
        <p:nvSpPr>
          <p:cNvPr name="TextBox 80" id="80"/>
          <p:cNvSpPr txBox="true"/>
          <p:nvPr/>
        </p:nvSpPr>
        <p:spPr>
          <a:xfrm rot="0">
            <a:off x="13636594" y="8588375"/>
            <a:ext cx="4815376"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G</a:t>
            </a:r>
            <a:r>
              <a:rPr lang="en-US" sz="2499" spc="-159">
                <a:solidFill>
                  <a:srgbClr val="FCFBF6"/>
                </a:solidFill>
                <a:latin typeface="Arial"/>
                <a:ea typeface="Arial"/>
                <a:cs typeface="Arial"/>
                <a:sym typeface="Arial"/>
              </a:rPr>
              <a:t>et In Touch</a:t>
            </a:r>
          </a:p>
        </p:txBody>
      </p:sp>
      <p:sp>
        <p:nvSpPr>
          <p:cNvPr name="TextBox 81" id="81"/>
          <p:cNvSpPr txBox="true"/>
          <p:nvPr/>
        </p:nvSpPr>
        <p:spPr>
          <a:xfrm rot="0">
            <a:off x="12751352" y="8588375"/>
            <a:ext cx="980491" cy="288925"/>
          </a:xfrm>
          <a:prstGeom prst="rect">
            <a:avLst/>
          </a:prstGeom>
        </p:spPr>
        <p:txBody>
          <a:bodyPr anchor="t" rtlCol="false" tIns="0" lIns="0" bIns="0" rIns="0">
            <a:spAutoFit/>
          </a:bodyPr>
          <a:lstStyle/>
          <a:p>
            <a:pPr algn="l">
              <a:lnSpc>
                <a:spcPts val="1999"/>
              </a:lnSpc>
            </a:pPr>
            <a:r>
              <a:rPr lang="en-US" sz="2499" spc="-159">
                <a:solidFill>
                  <a:srgbClr val="FCFBF6"/>
                </a:solidFill>
                <a:latin typeface="Arial"/>
                <a:ea typeface="Arial"/>
                <a:cs typeface="Arial"/>
                <a:sym typeface="Arial"/>
              </a:rPr>
              <a:t>(09)</a:t>
            </a:r>
          </a:p>
        </p:txBody>
      </p:sp>
      <p:sp>
        <p:nvSpPr>
          <p:cNvPr name="TextBox 82" id="82"/>
          <p:cNvSpPr txBox="true"/>
          <p:nvPr/>
        </p:nvSpPr>
        <p:spPr>
          <a:xfrm rot="0">
            <a:off x="6890026" y="9496494"/>
            <a:ext cx="4507948" cy="274320"/>
          </a:xfrm>
          <a:prstGeom prst="rect">
            <a:avLst/>
          </a:prstGeom>
        </p:spPr>
        <p:txBody>
          <a:bodyPr anchor="t" rtlCol="false" tIns="0" lIns="0" bIns="0" rIns="0">
            <a:spAutoFit/>
          </a:bodyPr>
          <a:lstStyle/>
          <a:p>
            <a:pPr algn="ctr">
              <a:lnSpc>
                <a:spcPts val="2160"/>
              </a:lnSpc>
            </a:pPr>
            <a:r>
              <a:rPr lang="en-US" sz="1600">
                <a:solidFill>
                  <a:srgbClr val="FCFBF6"/>
                </a:solidFill>
                <a:latin typeface="Arial"/>
                <a:ea typeface="Arial"/>
                <a:cs typeface="Arial"/>
                <a:sym typeface="Arial"/>
              </a:rPr>
              <a:t>WWW.REALLYGREATSITE.COM</a:t>
            </a:r>
          </a:p>
        </p:txBody>
      </p:sp>
      <p:sp>
        <p:nvSpPr>
          <p:cNvPr name="TextBox 83" id="83"/>
          <p:cNvSpPr txBox="true"/>
          <p:nvPr/>
        </p:nvSpPr>
        <p:spPr>
          <a:xfrm rot="0">
            <a:off x="1586010" y="1207348"/>
            <a:ext cx="15115979" cy="1259700"/>
          </a:xfrm>
          <a:prstGeom prst="rect">
            <a:avLst/>
          </a:prstGeom>
        </p:spPr>
        <p:txBody>
          <a:bodyPr anchor="t" rtlCol="false" tIns="0" lIns="0" bIns="0" rIns="0">
            <a:spAutoFit/>
          </a:bodyPr>
          <a:lstStyle/>
          <a:p>
            <a:pPr algn="ctr">
              <a:lnSpc>
                <a:spcPts val="8887"/>
              </a:lnSpc>
            </a:pPr>
            <a:r>
              <a:rPr lang="en-US" sz="11109" i="true" spc="-711">
                <a:solidFill>
                  <a:srgbClr val="000000"/>
                </a:solidFill>
                <a:latin typeface="Playfair Display Italics"/>
                <a:ea typeface="Playfair Display Italics"/>
                <a:cs typeface="Playfair Display Italics"/>
                <a:sym typeface="Playfair Display Italics"/>
              </a:rPr>
              <a:t>Anggota Kelompok</a:t>
            </a:r>
          </a:p>
        </p:txBody>
      </p:sp>
      <p:sp>
        <p:nvSpPr>
          <p:cNvPr name="TextBox 84" id="84"/>
          <p:cNvSpPr txBox="true"/>
          <p:nvPr/>
        </p:nvSpPr>
        <p:spPr>
          <a:xfrm rot="0">
            <a:off x="-638456" y="3575780"/>
            <a:ext cx="19564911" cy="6343647"/>
          </a:xfrm>
          <a:prstGeom prst="rect">
            <a:avLst/>
          </a:prstGeom>
        </p:spPr>
        <p:txBody>
          <a:bodyPr anchor="t" rtlCol="false" tIns="0" lIns="0" bIns="0" rIns="0">
            <a:spAutoFit/>
          </a:bodyPr>
          <a:lstStyle/>
          <a:p>
            <a:pPr algn="ctr">
              <a:lnSpc>
                <a:spcPts val="3599"/>
              </a:lnSpc>
            </a:pPr>
            <a:r>
              <a:rPr lang="en-US" sz="4499" spc="-287">
                <a:solidFill>
                  <a:srgbClr val="000000"/>
                </a:solidFill>
                <a:latin typeface="Arial"/>
                <a:ea typeface="Arial"/>
                <a:cs typeface="Arial"/>
                <a:sym typeface="Arial"/>
              </a:rPr>
              <a:t>Muhammad Kadafhi  (</a:t>
            </a:r>
            <a:r>
              <a:rPr lang="en-US" sz="4499" spc="-287">
                <a:solidFill>
                  <a:srgbClr val="000000"/>
                </a:solidFill>
                <a:latin typeface="Arial"/>
                <a:ea typeface="Arial"/>
                <a:cs typeface="Arial"/>
                <a:sym typeface="Arial"/>
              </a:rPr>
              <a:t>202402110022)</a:t>
            </a:r>
          </a:p>
          <a:p>
            <a:pPr algn="ctr">
              <a:lnSpc>
                <a:spcPts val="3599"/>
              </a:lnSpc>
            </a:pPr>
          </a:p>
          <a:p>
            <a:pPr algn="ctr">
              <a:lnSpc>
                <a:spcPts val="3599"/>
              </a:lnSpc>
            </a:pPr>
            <a:r>
              <a:rPr lang="en-US" sz="4499" spc="-287">
                <a:solidFill>
                  <a:srgbClr val="000000"/>
                </a:solidFill>
                <a:latin typeface="Arial"/>
                <a:ea typeface="Arial"/>
                <a:cs typeface="Arial"/>
                <a:sym typeface="Arial"/>
              </a:rPr>
              <a:t>Muhamad Raihan Habibi  (202402110041)</a:t>
            </a:r>
          </a:p>
          <a:p>
            <a:pPr algn="ctr">
              <a:lnSpc>
                <a:spcPts val="3599"/>
              </a:lnSpc>
            </a:pPr>
          </a:p>
          <a:p>
            <a:pPr algn="ctr">
              <a:lnSpc>
                <a:spcPts val="3599"/>
              </a:lnSpc>
            </a:pPr>
            <a:r>
              <a:rPr lang="en-US" sz="4499" spc="-287">
                <a:solidFill>
                  <a:srgbClr val="000000"/>
                </a:solidFill>
                <a:latin typeface="Arial"/>
                <a:ea typeface="Arial"/>
                <a:cs typeface="Arial"/>
                <a:sym typeface="Arial"/>
              </a:rPr>
              <a:t>Nicholas Agustian  (202402110066)</a:t>
            </a:r>
          </a:p>
          <a:p>
            <a:pPr algn="ctr">
              <a:lnSpc>
                <a:spcPts val="3599"/>
              </a:lnSpc>
            </a:pPr>
          </a:p>
          <a:p>
            <a:pPr algn="ctr">
              <a:lnSpc>
                <a:spcPts val="3599"/>
              </a:lnSpc>
            </a:pPr>
            <a:r>
              <a:rPr lang="en-US" sz="4499" spc="-287">
                <a:solidFill>
                  <a:srgbClr val="000000"/>
                </a:solidFill>
                <a:latin typeface="Arial"/>
                <a:ea typeface="Arial"/>
                <a:cs typeface="Arial"/>
                <a:sym typeface="Arial"/>
              </a:rPr>
              <a:t>Muhammad Afan  (202402110069)</a:t>
            </a:r>
          </a:p>
          <a:p>
            <a:pPr algn="ctr">
              <a:lnSpc>
                <a:spcPts val="3599"/>
              </a:lnSpc>
            </a:pPr>
          </a:p>
          <a:p>
            <a:pPr algn="ctr">
              <a:lnSpc>
                <a:spcPts val="3599"/>
              </a:lnSpc>
            </a:pPr>
            <a:r>
              <a:rPr lang="en-US" sz="4499" spc="-287">
                <a:solidFill>
                  <a:srgbClr val="000000"/>
                </a:solidFill>
                <a:latin typeface="Arial"/>
                <a:ea typeface="Arial"/>
                <a:cs typeface="Arial"/>
                <a:sym typeface="Arial"/>
              </a:rPr>
              <a:t>Aulia Nur Safitri  (202402110043)</a:t>
            </a:r>
          </a:p>
          <a:p>
            <a:pPr algn="ctr">
              <a:lnSpc>
                <a:spcPts val="3599"/>
              </a:lnSpc>
            </a:pPr>
          </a:p>
          <a:p>
            <a:pPr algn="ctr">
              <a:lnSpc>
                <a:spcPts val="3599"/>
              </a:lnSpc>
            </a:pPr>
            <a:r>
              <a:rPr lang="en-US" sz="4499" spc="-287">
                <a:solidFill>
                  <a:srgbClr val="000000"/>
                </a:solidFill>
                <a:latin typeface="Arial"/>
                <a:ea typeface="Arial"/>
                <a:cs typeface="Arial"/>
                <a:sym typeface="Arial"/>
              </a:rPr>
              <a:t>Najwa Arini Ramadhani  (202402110082)</a:t>
            </a:r>
          </a:p>
          <a:p>
            <a:pPr algn="ctr">
              <a:lnSpc>
                <a:spcPts val="3599"/>
              </a:lnSpc>
            </a:pPr>
          </a:p>
          <a:p>
            <a:pPr algn="ctr">
              <a:lnSpc>
                <a:spcPts val="3599"/>
              </a:lnSpc>
            </a:pPr>
            <a:r>
              <a:rPr lang="en-US" sz="4499" spc="-287">
                <a:solidFill>
                  <a:srgbClr val="000000"/>
                </a:solidFill>
                <a:latin typeface="Arial"/>
                <a:ea typeface="Arial"/>
                <a:cs typeface="Arial"/>
                <a:sym typeface="Arial"/>
              </a:rPr>
              <a:t>Ibnu Hari Prasetyo  (202402110015)</a:t>
            </a:r>
          </a:p>
          <a:p>
            <a:pPr algn="ctr">
              <a:lnSpc>
                <a:spcPts val="3599"/>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4193635" y="1153522"/>
            <a:ext cx="9900730" cy="1444573"/>
          </a:xfrm>
          <a:prstGeom prst="rect">
            <a:avLst/>
          </a:prstGeom>
        </p:spPr>
        <p:txBody>
          <a:bodyPr anchor="t" rtlCol="false" tIns="0" lIns="0" bIns="0" rIns="0">
            <a:spAutoFit/>
          </a:bodyPr>
          <a:lstStyle/>
          <a:p>
            <a:pPr algn="ctr">
              <a:lnSpc>
                <a:spcPts val="10220"/>
              </a:lnSpc>
            </a:pPr>
            <a:r>
              <a:rPr lang="en-US" sz="12775" spc="-817">
                <a:solidFill>
                  <a:srgbClr val="000000"/>
                </a:solidFill>
                <a:latin typeface="Playfair Display"/>
                <a:ea typeface="Playfair Display"/>
                <a:cs typeface="Playfair Display"/>
                <a:sym typeface="Playfair Display"/>
              </a:rPr>
              <a:t>Latar Belakang</a:t>
            </a:r>
          </a:p>
        </p:txBody>
      </p:sp>
      <p:sp>
        <p:nvSpPr>
          <p:cNvPr name="TextBox 67" id="67"/>
          <p:cNvSpPr txBox="true"/>
          <p:nvPr/>
        </p:nvSpPr>
        <p:spPr>
          <a:xfrm rot="0">
            <a:off x="1282659" y="3310324"/>
            <a:ext cx="16082860" cy="4836161"/>
          </a:xfrm>
          <a:prstGeom prst="rect">
            <a:avLst/>
          </a:prstGeom>
        </p:spPr>
        <p:txBody>
          <a:bodyPr anchor="t" rtlCol="false" tIns="0" lIns="0" bIns="0" rIns="0">
            <a:spAutoFit/>
          </a:bodyPr>
          <a:lstStyle/>
          <a:p>
            <a:pPr algn="just">
              <a:lnSpc>
                <a:spcPts val="6439"/>
              </a:lnSpc>
            </a:pPr>
            <a:r>
              <a:rPr lang="en-US" sz="4599">
                <a:solidFill>
                  <a:srgbClr val="000000"/>
                </a:solidFill>
                <a:latin typeface="Glacial Indifference"/>
                <a:ea typeface="Glacial Indifference"/>
                <a:cs typeface="Glacial Indifference"/>
                <a:sym typeface="Glacial Indifference"/>
              </a:rPr>
              <a:t>Unit Kegiatan Mahasiswa (UKM) merupakan wadah bagi mahasiswa untuk mengembangkan minat, bakat, serta kemampuan di luar kegiatan akademik. Namun, penyebaran informasi mengenai UKM di lingkungan kampus masih belum terpusat sehingga mahasiswa kesulitan memperoleh informasi yang lengkap.</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265016"/>
            <a:chOff x="0" y="0"/>
            <a:chExt cx="24384000" cy="9686688"/>
          </a:xfrm>
        </p:grpSpPr>
        <p:grpSp>
          <p:nvGrpSpPr>
            <p:cNvPr name="Group 3" id="3"/>
            <p:cNvGrpSpPr/>
            <p:nvPr/>
          </p:nvGrpSpPr>
          <p:grpSpPr>
            <a:xfrm rot="0">
              <a:off x="0" y="0"/>
              <a:ext cx="594732" cy="9686688"/>
              <a:chOff x="0" y="0"/>
              <a:chExt cx="117478" cy="1913420"/>
            </a:xfrm>
          </p:grpSpPr>
          <p:sp>
            <p:nvSpPr>
              <p:cNvPr name="Freeform 4" id="4"/>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5" id="5"/>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9686688"/>
              <a:chOff x="0" y="0"/>
              <a:chExt cx="117478" cy="1913420"/>
            </a:xfrm>
          </p:grpSpPr>
          <p:sp>
            <p:nvSpPr>
              <p:cNvPr name="Freeform 7" id="7"/>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8" id="8"/>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9686688"/>
              <a:chOff x="0" y="0"/>
              <a:chExt cx="117478" cy="1913420"/>
            </a:xfrm>
          </p:grpSpPr>
          <p:sp>
            <p:nvSpPr>
              <p:cNvPr name="Freeform 10" id="10"/>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11" id="11"/>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9686688"/>
              <a:chOff x="0" y="0"/>
              <a:chExt cx="117478" cy="1913420"/>
            </a:xfrm>
          </p:grpSpPr>
          <p:sp>
            <p:nvSpPr>
              <p:cNvPr name="Freeform 13" id="13"/>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14" id="14"/>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9686688"/>
              <a:chOff x="0" y="0"/>
              <a:chExt cx="117478" cy="1913420"/>
            </a:xfrm>
          </p:grpSpPr>
          <p:sp>
            <p:nvSpPr>
              <p:cNvPr name="Freeform 16" id="16"/>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17" id="17"/>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9686688"/>
              <a:chOff x="0" y="0"/>
              <a:chExt cx="117478" cy="1913420"/>
            </a:xfrm>
          </p:grpSpPr>
          <p:sp>
            <p:nvSpPr>
              <p:cNvPr name="Freeform 19" id="19"/>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20" id="20"/>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9686688"/>
              <a:chOff x="0" y="0"/>
              <a:chExt cx="117478" cy="1913420"/>
            </a:xfrm>
          </p:grpSpPr>
          <p:sp>
            <p:nvSpPr>
              <p:cNvPr name="Freeform 22" id="22"/>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23" id="23"/>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9686688"/>
              <a:chOff x="0" y="0"/>
              <a:chExt cx="117478" cy="1913420"/>
            </a:xfrm>
          </p:grpSpPr>
          <p:sp>
            <p:nvSpPr>
              <p:cNvPr name="Freeform 25" id="25"/>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26" id="26"/>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9686688"/>
              <a:chOff x="0" y="0"/>
              <a:chExt cx="117478" cy="1913420"/>
            </a:xfrm>
          </p:grpSpPr>
          <p:sp>
            <p:nvSpPr>
              <p:cNvPr name="Freeform 28" id="28"/>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29" id="29"/>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9686688"/>
              <a:chOff x="0" y="0"/>
              <a:chExt cx="117478" cy="1913420"/>
            </a:xfrm>
          </p:grpSpPr>
          <p:sp>
            <p:nvSpPr>
              <p:cNvPr name="Freeform 31" id="31"/>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32" id="32"/>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9686688"/>
              <a:chOff x="0" y="0"/>
              <a:chExt cx="117478" cy="1913420"/>
            </a:xfrm>
          </p:grpSpPr>
          <p:sp>
            <p:nvSpPr>
              <p:cNvPr name="Freeform 34" id="34"/>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35" id="35"/>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9686688"/>
              <a:chOff x="0" y="0"/>
              <a:chExt cx="117478" cy="1913420"/>
            </a:xfrm>
          </p:grpSpPr>
          <p:sp>
            <p:nvSpPr>
              <p:cNvPr name="Freeform 37" id="37"/>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38" id="38"/>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9686688"/>
              <a:chOff x="0" y="0"/>
              <a:chExt cx="117478" cy="1913420"/>
            </a:xfrm>
          </p:grpSpPr>
          <p:sp>
            <p:nvSpPr>
              <p:cNvPr name="Freeform 40" id="40"/>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41" id="41"/>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9686688"/>
              <a:chOff x="0" y="0"/>
              <a:chExt cx="117478" cy="1913420"/>
            </a:xfrm>
          </p:grpSpPr>
          <p:sp>
            <p:nvSpPr>
              <p:cNvPr name="Freeform 43" id="43"/>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44" id="44"/>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9686688"/>
              <a:chOff x="0" y="0"/>
              <a:chExt cx="117478" cy="1913420"/>
            </a:xfrm>
          </p:grpSpPr>
          <p:sp>
            <p:nvSpPr>
              <p:cNvPr name="Freeform 46" id="46"/>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47" id="47"/>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9686688"/>
              <a:chOff x="0" y="0"/>
              <a:chExt cx="117478" cy="1913420"/>
            </a:xfrm>
          </p:grpSpPr>
          <p:sp>
            <p:nvSpPr>
              <p:cNvPr name="Freeform 49" id="49"/>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50" id="50"/>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9686688"/>
              <a:chOff x="0" y="0"/>
              <a:chExt cx="117478" cy="1913420"/>
            </a:xfrm>
          </p:grpSpPr>
          <p:sp>
            <p:nvSpPr>
              <p:cNvPr name="Freeform 52" id="52"/>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53" id="53"/>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9686688"/>
              <a:chOff x="0" y="0"/>
              <a:chExt cx="117478" cy="1913420"/>
            </a:xfrm>
          </p:grpSpPr>
          <p:sp>
            <p:nvSpPr>
              <p:cNvPr name="Freeform 55" id="55"/>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56" id="56"/>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9686688"/>
              <a:chOff x="0" y="0"/>
              <a:chExt cx="117478" cy="1913420"/>
            </a:xfrm>
          </p:grpSpPr>
          <p:sp>
            <p:nvSpPr>
              <p:cNvPr name="Freeform 58" id="58"/>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59" id="59"/>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9686688"/>
              <a:chOff x="0" y="0"/>
              <a:chExt cx="117478" cy="1913420"/>
            </a:xfrm>
          </p:grpSpPr>
          <p:sp>
            <p:nvSpPr>
              <p:cNvPr name="Freeform 61" id="61"/>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62" id="62"/>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9686688"/>
              <a:chOff x="0" y="0"/>
              <a:chExt cx="117478" cy="1913420"/>
            </a:xfrm>
          </p:grpSpPr>
          <p:sp>
            <p:nvSpPr>
              <p:cNvPr name="Freeform 64" id="64"/>
              <p:cNvSpPr/>
              <p:nvPr/>
            </p:nvSpPr>
            <p:spPr>
              <a:xfrm flipH="false" flipV="false" rot="0">
                <a:off x="0" y="0"/>
                <a:ext cx="117478" cy="1913420"/>
              </a:xfrm>
              <a:custGeom>
                <a:avLst/>
                <a:gdLst/>
                <a:ahLst/>
                <a:cxnLst/>
                <a:rect r="r" b="b" t="t" l="l"/>
                <a:pathLst>
                  <a:path h="1913420" w="117478">
                    <a:moveTo>
                      <a:pt x="0" y="0"/>
                    </a:moveTo>
                    <a:lnTo>
                      <a:pt x="117478" y="0"/>
                    </a:lnTo>
                    <a:lnTo>
                      <a:pt x="117478" y="1913420"/>
                    </a:lnTo>
                    <a:lnTo>
                      <a:pt x="0" y="1913420"/>
                    </a:lnTo>
                    <a:close/>
                  </a:path>
                </a:pathLst>
              </a:custGeom>
              <a:solidFill>
                <a:srgbClr val="F8F2E9">
                  <a:alpha val="45882"/>
                </a:srgbClr>
              </a:solidFill>
            </p:spPr>
          </p:sp>
          <p:sp>
            <p:nvSpPr>
              <p:cNvPr name="TextBox 65" id="65"/>
              <p:cNvSpPr txBox="true"/>
              <p:nvPr/>
            </p:nvSpPr>
            <p:spPr>
              <a:xfrm>
                <a:off x="0" y="-38100"/>
                <a:ext cx="117478" cy="195152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4193635" y="779094"/>
            <a:ext cx="9900730" cy="1092201"/>
          </a:xfrm>
          <a:prstGeom prst="rect">
            <a:avLst/>
          </a:prstGeom>
        </p:spPr>
        <p:txBody>
          <a:bodyPr anchor="t" rtlCol="false" tIns="0" lIns="0" bIns="0" rIns="0">
            <a:spAutoFit/>
          </a:bodyPr>
          <a:lstStyle/>
          <a:p>
            <a:pPr algn="ctr">
              <a:lnSpc>
                <a:spcPts val="7600"/>
              </a:lnSpc>
            </a:pPr>
            <a:r>
              <a:rPr lang="en-US" sz="9500" spc="-608">
                <a:solidFill>
                  <a:srgbClr val="000000"/>
                </a:solidFill>
                <a:latin typeface="Playfair Display"/>
                <a:ea typeface="Playfair Display"/>
                <a:cs typeface="Playfair Display"/>
                <a:sym typeface="Playfair Display"/>
              </a:rPr>
              <a:t>Permasalahan</a:t>
            </a:r>
          </a:p>
        </p:txBody>
      </p:sp>
      <p:sp>
        <p:nvSpPr>
          <p:cNvPr name="TextBox 67" id="67"/>
          <p:cNvSpPr txBox="true"/>
          <p:nvPr/>
        </p:nvSpPr>
        <p:spPr>
          <a:xfrm rot="0">
            <a:off x="572572" y="1672145"/>
            <a:ext cx="7723919" cy="8514060"/>
          </a:xfrm>
          <a:prstGeom prst="rect">
            <a:avLst/>
          </a:prstGeom>
        </p:spPr>
        <p:txBody>
          <a:bodyPr anchor="t" rtlCol="false" tIns="0" lIns="0" bIns="0" rIns="0">
            <a:spAutoFit/>
          </a:bodyPr>
          <a:lstStyle/>
          <a:p>
            <a:pPr algn="l">
              <a:lnSpc>
                <a:spcPts val="4323"/>
              </a:lnSpc>
              <a:spcBef>
                <a:spcPct val="0"/>
              </a:spcBef>
            </a:pPr>
          </a:p>
          <a:p>
            <a:pPr algn="just">
              <a:lnSpc>
                <a:spcPts val="4231"/>
              </a:lnSpc>
              <a:spcBef>
                <a:spcPct val="0"/>
              </a:spcBef>
            </a:pPr>
            <a:r>
              <a:rPr lang="en-US" b="true" sz="3022">
                <a:solidFill>
                  <a:srgbClr val="000000"/>
                </a:solidFill>
                <a:latin typeface="Glacial Indifference Bold"/>
                <a:ea typeface="Glacial Indifference Bold"/>
                <a:cs typeface="Glacial Indifference Bold"/>
                <a:sym typeface="Glacial Indifference Bold"/>
              </a:rPr>
              <a:t>Masalah UKM Saat Ini</a:t>
            </a:r>
          </a:p>
          <a:p>
            <a:pPr algn="just">
              <a:lnSpc>
                <a:spcPts val="4231"/>
              </a:lnSpc>
              <a:spcBef>
                <a:spcPct val="0"/>
              </a:spcBef>
            </a:pPr>
            <a:r>
              <a:rPr lang="en-US" sz="3022">
                <a:solidFill>
                  <a:srgbClr val="000000"/>
                </a:solidFill>
                <a:latin typeface="Glacial Indifference"/>
                <a:ea typeface="Glacial Indifference"/>
                <a:cs typeface="Glacial Indifference"/>
                <a:sym typeface="Glacial Indifference"/>
              </a:rPr>
              <a:t>Unit Kegiatan Mahasiswa (UKM) sangat penting untuk membentuk soft skill, karakter, kepemimpinan, dan jejaring relasi bagi mahasiswa di lingkungan perguruan tinggi.</a:t>
            </a:r>
          </a:p>
          <a:p>
            <a:pPr algn="just">
              <a:lnSpc>
                <a:spcPts val="4231"/>
              </a:lnSpc>
              <a:spcBef>
                <a:spcPct val="0"/>
              </a:spcBef>
            </a:pPr>
          </a:p>
          <a:p>
            <a:pPr algn="just">
              <a:lnSpc>
                <a:spcPts val="4231"/>
              </a:lnSpc>
              <a:spcBef>
                <a:spcPct val="0"/>
              </a:spcBef>
            </a:pPr>
            <a:r>
              <a:rPr lang="en-US" sz="3022">
                <a:solidFill>
                  <a:srgbClr val="000000"/>
                </a:solidFill>
                <a:latin typeface="Glacial Indifference"/>
                <a:ea typeface="Glacial Indifference"/>
                <a:cs typeface="Glacial Indifference"/>
                <a:sym typeface="Glacial Indifference"/>
              </a:rPr>
              <a:t>Namun, dalam proses pengelolaannya saat ini masih terdapat beberapa kendala, terutama dalam hal pengelolaan data, penyebaran informasi, dan publikasi kegiatan. Sebagian besar proses masih dilakukan secara manual dan belum terintegrasi, sehingga informasi mengenai UKM sering kali tersebar di berbagai media dan sulit diakses oleh mahasiswa.</a:t>
            </a:r>
          </a:p>
          <a:p>
            <a:pPr algn="just">
              <a:lnSpc>
                <a:spcPts val="4231"/>
              </a:lnSpc>
            </a:pPr>
          </a:p>
        </p:txBody>
      </p:sp>
      <p:sp>
        <p:nvSpPr>
          <p:cNvPr name="TextBox 68" id="68"/>
          <p:cNvSpPr txBox="true"/>
          <p:nvPr/>
        </p:nvSpPr>
        <p:spPr>
          <a:xfrm rot="0">
            <a:off x="9960845" y="2109420"/>
            <a:ext cx="6499992" cy="495301"/>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Informasi Tersebar</a:t>
            </a:r>
          </a:p>
        </p:txBody>
      </p:sp>
      <p:sp>
        <p:nvSpPr>
          <p:cNvPr name="TextBox 69" id="69"/>
          <p:cNvSpPr txBox="true"/>
          <p:nvPr/>
        </p:nvSpPr>
        <p:spPr>
          <a:xfrm rot="0">
            <a:off x="9960845" y="2836289"/>
            <a:ext cx="7752691" cy="15525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Glacial Indifference"/>
                <a:ea typeface="Glacial Indifference"/>
                <a:cs typeface="Glacial Indifference"/>
                <a:sym typeface="Glacial Indifference"/>
              </a:rPr>
              <a:t>Mahasiswa harus melacak sosial media masing-masing UKM yang formatnya berbeda-beda.</a:t>
            </a:r>
          </a:p>
        </p:txBody>
      </p:sp>
      <p:sp>
        <p:nvSpPr>
          <p:cNvPr name="TextBox 70" id="70"/>
          <p:cNvSpPr txBox="true"/>
          <p:nvPr/>
        </p:nvSpPr>
        <p:spPr>
          <a:xfrm rot="0">
            <a:off x="9960845" y="5326794"/>
            <a:ext cx="6499992" cy="15525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Glacial Indifference"/>
                <a:ea typeface="Glacial Indifference"/>
                <a:cs typeface="Glacial Indifference"/>
                <a:sym typeface="Glacial Indifference"/>
              </a:rPr>
              <a:t>Pro</a:t>
            </a:r>
            <a:r>
              <a:rPr lang="en-US" sz="2999">
                <a:solidFill>
                  <a:srgbClr val="000000"/>
                </a:solidFill>
                <a:latin typeface="Glacial Indifference"/>
                <a:ea typeface="Glacial Indifference"/>
                <a:cs typeface="Glacial Indifference"/>
                <a:sym typeface="Glacial Indifference"/>
              </a:rPr>
              <a:t>ses pengisian formulir masih manual via berkas fisik atau jalur chat pribadi yang tidak terpusat.</a:t>
            </a:r>
          </a:p>
        </p:txBody>
      </p:sp>
      <p:sp>
        <p:nvSpPr>
          <p:cNvPr name="TextBox 71" id="71"/>
          <p:cNvSpPr txBox="true"/>
          <p:nvPr/>
        </p:nvSpPr>
        <p:spPr>
          <a:xfrm rot="0">
            <a:off x="9960845" y="4626990"/>
            <a:ext cx="6499992" cy="495301"/>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Pendaftaran Manual</a:t>
            </a:r>
          </a:p>
        </p:txBody>
      </p:sp>
      <p:sp>
        <p:nvSpPr>
          <p:cNvPr name="TextBox 72" id="72"/>
          <p:cNvSpPr txBox="true"/>
          <p:nvPr/>
        </p:nvSpPr>
        <p:spPr>
          <a:xfrm rot="0">
            <a:off x="9960845" y="7822346"/>
            <a:ext cx="6499992" cy="15525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Glacial Indifference"/>
                <a:ea typeface="Glacial Indifference"/>
                <a:cs typeface="Glacial Indifference"/>
                <a:sym typeface="Glacial Indifference"/>
              </a:rPr>
              <a:t>Sulit bagi</a:t>
            </a:r>
            <a:r>
              <a:rPr lang="en-US" sz="2999">
                <a:solidFill>
                  <a:srgbClr val="000000"/>
                </a:solidFill>
                <a:latin typeface="Glacial Indifference"/>
                <a:ea typeface="Glacial Indifference"/>
                <a:cs typeface="Glacial Indifference"/>
                <a:sym typeface="Glacial Indifference"/>
              </a:rPr>
              <a:t> pengurus untuk merapikan, memverifikasi, dan mengarsipkan data calon pendaftar.</a:t>
            </a:r>
          </a:p>
        </p:txBody>
      </p:sp>
      <p:sp>
        <p:nvSpPr>
          <p:cNvPr name="TextBox 73" id="73"/>
          <p:cNvSpPr txBox="true"/>
          <p:nvPr/>
        </p:nvSpPr>
        <p:spPr>
          <a:xfrm rot="0">
            <a:off x="9960845" y="7117495"/>
            <a:ext cx="6499992" cy="495301"/>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Risiko duplikasi Data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2341119" y="4439829"/>
            <a:ext cx="9056855" cy="1614659"/>
          </a:xfrm>
          <a:prstGeom prst="rect">
            <a:avLst/>
          </a:prstGeom>
        </p:spPr>
        <p:txBody>
          <a:bodyPr anchor="t" rtlCol="false" tIns="0" lIns="0" bIns="0" rIns="0">
            <a:spAutoFit/>
          </a:bodyPr>
          <a:lstStyle/>
          <a:p>
            <a:pPr algn="l">
              <a:lnSpc>
                <a:spcPts val="11367"/>
              </a:lnSpc>
            </a:pPr>
            <a:r>
              <a:rPr lang="en-US" sz="14209" i="true" spc="-909">
                <a:solidFill>
                  <a:srgbClr val="000000"/>
                </a:solidFill>
                <a:latin typeface="Playfair Display Italics"/>
                <a:ea typeface="Playfair Display Italics"/>
                <a:cs typeface="Playfair Display Italics"/>
                <a:sym typeface="Playfair Display Italics"/>
              </a:rPr>
              <a:t>solusi</a:t>
            </a:r>
          </a:p>
        </p:txBody>
      </p:sp>
      <p:grpSp>
        <p:nvGrpSpPr>
          <p:cNvPr name="Group 67" id="67"/>
          <p:cNvGrpSpPr/>
          <p:nvPr/>
        </p:nvGrpSpPr>
        <p:grpSpPr>
          <a:xfrm rot="-231895">
            <a:off x="1084823" y="4196404"/>
            <a:ext cx="6785371" cy="1894192"/>
            <a:chOff x="0" y="0"/>
            <a:chExt cx="2669793" cy="745294"/>
          </a:xfrm>
        </p:grpSpPr>
        <p:sp>
          <p:nvSpPr>
            <p:cNvPr name="Freeform 68" id="68"/>
            <p:cNvSpPr/>
            <p:nvPr/>
          </p:nvSpPr>
          <p:spPr>
            <a:xfrm flipH="false" flipV="false" rot="0">
              <a:off x="0" y="0"/>
              <a:ext cx="2669792" cy="745294"/>
            </a:xfrm>
            <a:custGeom>
              <a:avLst/>
              <a:gdLst/>
              <a:ahLst/>
              <a:cxnLst/>
              <a:rect r="r" b="b" t="t" l="l"/>
              <a:pathLst>
                <a:path h="745294" w="2669792">
                  <a:moveTo>
                    <a:pt x="1334896" y="0"/>
                  </a:moveTo>
                  <a:cubicBezTo>
                    <a:pt x="597653" y="0"/>
                    <a:pt x="0" y="166840"/>
                    <a:pt x="0" y="372647"/>
                  </a:cubicBezTo>
                  <a:cubicBezTo>
                    <a:pt x="0" y="578454"/>
                    <a:pt x="597653" y="745294"/>
                    <a:pt x="1334896" y="745294"/>
                  </a:cubicBezTo>
                  <a:cubicBezTo>
                    <a:pt x="2072139" y="745294"/>
                    <a:pt x="2669792" y="578454"/>
                    <a:pt x="2669792" y="372647"/>
                  </a:cubicBezTo>
                  <a:cubicBezTo>
                    <a:pt x="2669792" y="166840"/>
                    <a:pt x="2072139" y="0"/>
                    <a:pt x="1334896" y="0"/>
                  </a:cubicBezTo>
                  <a:close/>
                </a:path>
              </a:pathLst>
            </a:custGeom>
            <a:ln w="19050" cap="sq">
              <a:solidFill>
                <a:srgbClr val="000000"/>
              </a:solidFill>
              <a:prstDash val="solid"/>
              <a:miter/>
            </a:ln>
          </p:spPr>
        </p:sp>
        <p:sp>
          <p:nvSpPr>
            <p:cNvPr name="TextBox 69" id="69"/>
            <p:cNvSpPr txBox="true"/>
            <p:nvPr/>
          </p:nvSpPr>
          <p:spPr>
            <a:xfrm>
              <a:off x="250293" y="31771"/>
              <a:ext cx="2169206" cy="643652"/>
            </a:xfrm>
            <a:prstGeom prst="rect">
              <a:avLst/>
            </a:prstGeom>
          </p:spPr>
          <p:txBody>
            <a:bodyPr anchor="ctr" rtlCol="false" tIns="50800" lIns="50800" bIns="50800" rIns="50800"/>
            <a:lstStyle/>
            <a:p>
              <a:pPr algn="ctr">
                <a:lnSpc>
                  <a:spcPts val="2659"/>
                </a:lnSpc>
                <a:spcBef>
                  <a:spcPct val="0"/>
                </a:spcBef>
              </a:pPr>
            </a:p>
          </p:txBody>
        </p:sp>
      </p:grpSp>
      <p:grpSp>
        <p:nvGrpSpPr>
          <p:cNvPr name="Group 70" id="70"/>
          <p:cNvGrpSpPr/>
          <p:nvPr/>
        </p:nvGrpSpPr>
        <p:grpSpPr>
          <a:xfrm rot="0">
            <a:off x="6410085" y="3896904"/>
            <a:ext cx="959883" cy="940685"/>
            <a:chOff x="0" y="0"/>
            <a:chExt cx="635000" cy="622300"/>
          </a:xfrm>
        </p:grpSpPr>
        <p:sp>
          <p:nvSpPr>
            <p:cNvPr name="Freeform 71" id="71"/>
            <p:cNvSpPr/>
            <p:nvPr/>
          </p:nvSpPr>
          <p:spPr>
            <a:xfrm flipH="false" flipV="false" rot="0">
              <a:off x="0" y="0"/>
              <a:ext cx="635000" cy="622300"/>
            </a:xfrm>
            <a:custGeom>
              <a:avLst/>
              <a:gdLst/>
              <a:ahLst/>
              <a:cxnLst/>
              <a:rect r="r" b="b" t="t" l="l"/>
              <a:pathLst>
                <a:path h="622300" w="635000">
                  <a:moveTo>
                    <a:pt x="547370" y="62230"/>
                  </a:moveTo>
                  <a:lnTo>
                    <a:pt x="401320" y="267970"/>
                  </a:lnTo>
                  <a:lnTo>
                    <a:pt x="635000" y="346710"/>
                  </a:lnTo>
                  <a:lnTo>
                    <a:pt x="605790" y="445770"/>
                  </a:lnTo>
                  <a:lnTo>
                    <a:pt x="369570" y="367030"/>
                  </a:lnTo>
                  <a:lnTo>
                    <a:pt x="369570" y="622300"/>
                  </a:lnTo>
                  <a:lnTo>
                    <a:pt x="267970" y="622300"/>
                  </a:lnTo>
                  <a:lnTo>
                    <a:pt x="267970" y="367030"/>
                  </a:lnTo>
                  <a:lnTo>
                    <a:pt x="31750" y="445770"/>
                  </a:lnTo>
                  <a:lnTo>
                    <a:pt x="0" y="346710"/>
                  </a:lnTo>
                  <a:lnTo>
                    <a:pt x="236220" y="267970"/>
                  </a:lnTo>
                  <a:lnTo>
                    <a:pt x="90170" y="62230"/>
                  </a:lnTo>
                  <a:lnTo>
                    <a:pt x="172720" y="0"/>
                  </a:lnTo>
                  <a:lnTo>
                    <a:pt x="318770" y="205740"/>
                  </a:lnTo>
                  <a:lnTo>
                    <a:pt x="464820" y="0"/>
                  </a:lnTo>
                  <a:lnTo>
                    <a:pt x="547370" y="62230"/>
                  </a:lnTo>
                  <a:close/>
                </a:path>
              </a:pathLst>
            </a:custGeom>
            <a:solidFill>
              <a:srgbClr val="000000"/>
            </a:solidFill>
          </p:spPr>
        </p:sp>
        <p:sp>
          <p:nvSpPr>
            <p:cNvPr name="TextBox 72" id="72"/>
            <p:cNvSpPr txBox="true"/>
            <p:nvPr/>
          </p:nvSpPr>
          <p:spPr>
            <a:xfrm>
              <a:off x="146050" y="101600"/>
              <a:ext cx="342900" cy="381000"/>
            </a:xfrm>
            <a:prstGeom prst="rect">
              <a:avLst/>
            </a:prstGeom>
          </p:spPr>
          <p:txBody>
            <a:bodyPr anchor="ctr" rtlCol="false" tIns="50800" lIns="50800" bIns="50800" rIns="50800"/>
            <a:lstStyle/>
            <a:p>
              <a:pPr algn="ctr">
                <a:lnSpc>
                  <a:spcPts val="2700"/>
                </a:lnSpc>
              </a:pPr>
            </a:p>
          </p:txBody>
        </p:sp>
      </p:grpSp>
      <p:sp>
        <p:nvSpPr>
          <p:cNvPr name="TextBox 73" id="73"/>
          <p:cNvSpPr txBox="true"/>
          <p:nvPr/>
        </p:nvSpPr>
        <p:spPr>
          <a:xfrm rot="0">
            <a:off x="9381192" y="1438123"/>
            <a:ext cx="8491800" cy="7283784"/>
          </a:xfrm>
          <a:prstGeom prst="rect">
            <a:avLst/>
          </a:prstGeom>
        </p:spPr>
        <p:txBody>
          <a:bodyPr anchor="t" rtlCol="false" tIns="0" lIns="0" bIns="0" rIns="0">
            <a:spAutoFit/>
          </a:bodyPr>
          <a:lstStyle/>
          <a:p>
            <a:pPr algn="just">
              <a:lnSpc>
                <a:spcPts val="3831"/>
              </a:lnSpc>
              <a:spcBef>
                <a:spcPct val="0"/>
              </a:spcBef>
            </a:pPr>
            <a:r>
              <a:rPr lang="en-US" b="true" sz="2736">
                <a:solidFill>
                  <a:srgbClr val="000000"/>
                </a:solidFill>
                <a:latin typeface="Glacial Indifference Bold"/>
                <a:ea typeface="Glacial Indifference Bold"/>
                <a:cs typeface="Glacial Indifference Bold"/>
                <a:sym typeface="Glacial Indifference Bold"/>
              </a:rPr>
              <a:t>Solu</a:t>
            </a:r>
            <a:r>
              <a:rPr lang="en-US" b="true" sz="2736">
                <a:solidFill>
                  <a:srgbClr val="000000"/>
                </a:solidFill>
                <a:latin typeface="Glacial Indifference Bold"/>
                <a:ea typeface="Glacial Indifference Bold"/>
                <a:cs typeface="Glacial Indifference Bold"/>
                <a:sym typeface="Glacial Indifference Bold"/>
              </a:rPr>
              <a:t>si : </a:t>
            </a:r>
            <a:r>
              <a:rPr lang="en-US" sz="2736">
                <a:solidFill>
                  <a:srgbClr val="000000"/>
                </a:solidFill>
                <a:latin typeface="Glacial Indifference"/>
                <a:ea typeface="Glacial Indifference"/>
                <a:cs typeface="Glacial Indifference"/>
                <a:sym typeface="Glacial Indifference"/>
              </a:rPr>
              <a:t>Untuk mengatasi permasalahan tersebut dikembangkan IPWIJA UKM Hub, yaitu portal berbasis web yang menjadi pusat informasi seluruh Unit Kegiatan Mahasiswa.</a:t>
            </a:r>
          </a:p>
          <a:p>
            <a:pPr algn="just">
              <a:lnSpc>
                <a:spcPts val="3831"/>
              </a:lnSpc>
              <a:spcBef>
                <a:spcPct val="0"/>
              </a:spcBef>
            </a:pPr>
          </a:p>
          <a:p>
            <a:pPr algn="just">
              <a:lnSpc>
                <a:spcPts val="3831"/>
              </a:lnSpc>
              <a:spcBef>
                <a:spcPct val="0"/>
              </a:spcBef>
            </a:pPr>
            <a:r>
              <a:rPr lang="en-US" b="true" sz="2736">
                <a:solidFill>
                  <a:srgbClr val="000000"/>
                </a:solidFill>
                <a:latin typeface="Glacial Indifference Bold"/>
                <a:ea typeface="Glacial Indifference Bold"/>
                <a:cs typeface="Glacial Indifference Bold"/>
                <a:sym typeface="Glacial Indifference Bold"/>
              </a:rPr>
              <a:t>IPWIJA UKM Hub</a:t>
            </a:r>
          </a:p>
          <a:p>
            <a:pPr algn="just">
              <a:lnSpc>
                <a:spcPts val="3831"/>
              </a:lnSpc>
            </a:pPr>
            <a:r>
              <a:rPr lang="en-US" b="true" sz="2736">
                <a:solidFill>
                  <a:srgbClr val="000000"/>
                </a:solidFill>
                <a:latin typeface="Glacial Indifference Bold"/>
                <a:ea typeface="Glacial Indifference Bold"/>
                <a:cs typeface="Glacial Indifference Bold"/>
                <a:sym typeface="Glacial Indifference Bold"/>
              </a:rPr>
              <a:t>Por</a:t>
            </a:r>
            <a:r>
              <a:rPr lang="en-US" b="true" sz="2736">
                <a:solidFill>
                  <a:srgbClr val="000000"/>
                </a:solidFill>
                <a:latin typeface="Glacial Indifference Bold"/>
                <a:ea typeface="Glacial Indifference Bold"/>
                <a:cs typeface="Glacial Indifference Bold"/>
                <a:sym typeface="Glacial Indifference Bold"/>
              </a:rPr>
              <a:t>tal berbasis web yang menyediakan:</a:t>
            </a:r>
          </a:p>
          <a:p>
            <a:pPr algn="just" marL="590887" indent="-295443" lvl="1">
              <a:lnSpc>
                <a:spcPts val="3831"/>
              </a:lnSpc>
              <a:buFont typeface="Arial"/>
              <a:buChar char="•"/>
            </a:pPr>
            <a:r>
              <a:rPr lang="en-US" sz="2736">
                <a:solidFill>
                  <a:srgbClr val="000000"/>
                </a:solidFill>
                <a:latin typeface="Glacial Indifference"/>
                <a:ea typeface="Glacial Indifference"/>
                <a:cs typeface="Glacial Indifference"/>
                <a:sym typeface="Glacial Indifference"/>
              </a:rPr>
              <a:t>Informasi seluruh UKM</a:t>
            </a:r>
          </a:p>
          <a:p>
            <a:pPr algn="just" marL="590887" indent="-295443" lvl="1">
              <a:lnSpc>
                <a:spcPts val="3831"/>
              </a:lnSpc>
              <a:buFont typeface="Arial"/>
              <a:buChar char="•"/>
            </a:pPr>
            <a:r>
              <a:rPr lang="en-US" sz="2736">
                <a:solidFill>
                  <a:srgbClr val="000000"/>
                </a:solidFill>
                <a:latin typeface="Glacial Indifference"/>
                <a:ea typeface="Glacial Indifference"/>
                <a:cs typeface="Glacial Indifference"/>
                <a:sym typeface="Glacial Indifference"/>
              </a:rPr>
              <a:t>Profil </a:t>
            </a:r>
          </a:p>
          <a:p>
            <a:pPr algn="just" marL="590887" indent="-295443" lvl="1">
              <a:lnSpc>
                <a:spcPts val="3831"/>
              </a:lnSpc>
              <a:buFont typeface="Arial"/>
              <a:buChar char="•"/>
            </a:pPr>
            <a:r>
              <a:rPr lang="en-US" sz="2736">
                <a:solidFill>
                  <a:srgbClr val="000000"/>
                </a:solidFill>
                <a:latin typeface="Glacial Indifference"/>
                <a:ea typeface="Glacial Indifference"/>
                <a:cs typeface="Glacial Indifference"/>
                <a:sym typeface="Glacial Indifference"/>
              </a:rPr>
              <a:t>Pendaftaran  anggota melalui WhatsApp</a:t>
            </a:r>
          </a:p>
          <a:p>
            <a:pPr algn="just">
              <a:lnSpc>
                <a:spcPts val="3831"/>
              </a:lnSpc>
            </a:pPr>
            <a:r>
              <a:rPr lang="en-US" sz="2736">
                <a:solidFill>
                  <a:srgbClr val="000000"/>
                </a:solidFill>
                <a:latin typeface="Glacial Indifference"/>
                <a:ea typeface="Glacial Indifference"/>
                <a:cs typeface="Glacial Indifference"/>
                <a:sym typeface="Glacial Indifference"/>
              </a:rPr>
              <a:t>Dengan sistem ini mahasiswa dapat memperoleh informasi UKM secara cepat dan mudah dalam satu platform.</a:t>
            </a:r>
          </a:p>
          <a:p>
            <a:pPr algn="just">
              <a:lnSpc>
                <a:spcPts val="3831"/>
              </a:lnSpc>
            </a:pPr>
          </a:p>
          <a:p>
            <a:pPr algn="just">
              <a:lnSpc>
                <a:spcPts val="3831"/>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3505386" y="1381125"/>
            <a:ext cx="11277228" cy="1092201"/>
          </a:xfrm>
          <a:prstGeom prst="rect">
            <a:avLst/>
          </a:prstGeom>
        </p:spPr>
        <p:txBody>
          <a:bodyPr anchor="t" rtlCol="false" tIns="0" lIns="0" bIns="0" rIns="0">
            <a:spAutoFit/>
          </a:bodyPr>
          <a:lstStyle/>
          <a:p>
            <a:pPr algn="l">
              <a:lnSpc>
                <a:spcPts val="7600"/>
              </a:lnSpc>
            </a:pPr>
            <a:r>
              <a:rPr lang="en-US" sz="9500" i="true" spc="-608">
                <a:solidFill>
                  <a:srgbClr val="000000"/>
                </a:solidFill>
                <a:latin typeface="Playfair Display Italics"/>
                <a:ea typeface="Playfair Display Italics"/>
                <a:cs typeface="Playfair Display Italics"/>
                <a:sym typeface="Playfair Display Italics"/>
              </a:rPr>
              <a:t>Tujuan Pengembangan</a:t>
            </a:r>
          </a:p>
        </p:txBody>
      </p:sp>
      <p:sp>
        <p:nvSpPr>
          <p:cNvPr name="TextBox 67" id="67"/>
          <p:cNvSpPr txBox="true"/>
          <p:nvPr/>
        </p:nvSpPr>
        <p:spPr>
          <a:xfrm rot="0">
            <a:off x="6890026" y="9496494"/>
            <a:ext cx="4507948" cy="274320"/>
          </a:xfrm>
          <a:prstGeom prst="rect">
            <a:avLst/>
          </a:prstGeom>
        </p:spPr>
        <p:txBody>
          <a:bodyPr anchor="t" rtlCol="false" tIns="0" lIns="0" bIns="0" rIns="0">
            <a:spAutoFit/>
          </a:bodyPr>
          <a:lstStyle/>
          <a:p>
            <a:pPr algn="ctr">
              <a:lnSpc>
                <a:spcPts val="2160"/>
              </a:lnSpc>
            </a:pPr>
          </a:p>
        </p:txBody>
      </p:sp>
      <p:sp>
        <p:nvSpPr>
          <p:cNvPr name="TextBox 68" id="68"/>
          <p:cNvSpPr txBox="true"/>
          <p:nvPr/>
        </p:nvSpPr>
        <p:spPr>
          <a:xfrm rot="0">
            <a:off x="706389" y="3521993"/>
            <a:ext cx="17306429" cy="5230227"/>
          </a:xfrm>
          <a:prstGeom prst="rect">
            <a:avLst/>
          </a:prstGeom>
        </p:spPr>
        <p:txBody>
          <a:bodyPr anchor="t" rtlCol="false" tIns="0" lIns="0" bIns="0" rIns="0">
            <a:spAutoFit/>
          </a:bodyPr>
          <a:lstStyle/>
          <a:p>
            <a:pPr algn="just">
              <a:lnSpc>
                <a:spcPts val="5194"/>
              </a:lnSpc>
            </a:pPr>
            <a:r>
              <a:rPr lang="en-US" b="true" sz="3710">
                <a:solidFill>
                  <a:srgbClr val="000000"/>
                </a:solidFill>
                <a:latin typeface="Glacial Indifference Bold"/>
                <a:ea typeface="Glacial Indifference Bold"/>
                <a:cs typeface="Glacial Indifference Bold"/>
                <a:sym typeface="Glacial Indifference Bold"/>
              </a:rPr>
              <a:t>W</a:t>
            </a:r>
            <a:r>
              <a:rPr lang="en-US" b="true" sz="3710">
                <a:solidFill>
                  <a:srgbClr val="000000"/>
                </a:solidFill>
                <a:latin typeface="Glacial Indifference Bold"/>
                <a:ea typeface="Glacial Indifference Bold"/>
                <a:cs typeface="Glacial Indifference Bold"/>
                <a:sym typeface="Glacial Indifference Bold"/>
              </a:rPr>
              <a:t>ebsite ini dikembangkan untuk:</a:t>
            </a:r>
          </a:p>
          <a:p>
            <a:pPr algn="just" marL="801105" indent="-400552" lvl="1">
              <a:lnSpc>
                <a:spcPts val="5194"/>
              </a:lnSpc>
              <a:buFont typeface="Arial"/>
              <a:buChar char="•"/>
            </a:pPr>
            <a:r>
              <a:rPr lang="en-US" sz="3710">
                <a:solidFill>
                  <a:srgbClr val="000000"/>
                </a:solidFill>
                <a:latin typeface="Glacial Indifference"/>
                <a:ea typeface="Glacial Indifference"/>
                <a:cs typeface="Glacial Indifference"/>
                <a:sym typeface="Glacial Indifference"/>
              </a:rPr>
              <a:t>Memusatkan seluruh informasi UKM dalam satu website.</a:t>
            </a:r>
          </a:p>
          <a:p>
            <a:pPr algn="just" marL="801105" indent="-400552" lvl="1">
              <a:lnSpc>
                <a:spcPts val="5194"/>
              </a:lnSpc>
              <a:buFont typeface="Arial"/>
              <a:buChar char="•"/>
            </a:pPr>
            <a:r>
              <a:rPr lang="en-US" sz="3710">
                <a:solidFill>
                  <a:srgbClr val="000000"/>
                </a:solidFill>
                <a:latin typeface="Glacial Indifference"/>
                <a:ea typeface="Glacial Indifference"/>
                <a:cs typeface="Glacial Indifference"/>
                <a:sym typeface="Glacial Indifference"/>
              </a:rPr>
              <a:t>Mempermudah mahasiswa mencari UKM sesuai minat.</a:t>
            </a:r>
          </a:p>
          <a:p>
            <a:pPr algn="just" marL="801105" indent="-400552" lvl="1">
              <a:lnSpc>
                <a:spcPts val="5194"/>
              </a:lnSpc>
              <a:buFont typeface="Arial"/>
              <a:buChar char="•"/>
            </a:pPr>
            <a:r>
              <a:rPr lang="en-US" sz="3710">
                <a:solidFill>
                  <a:srgbClr val="000000"/>
                </a:solidFill>
                <a:latin typeface="Glacial Indifference"/>
                <a:ea typeface="Glacial Indifference"/>
                <a:cs typeface="Glacial Indifference"/>
                <a:sym typeface="Glacial Indifference"/>
              </a:rPr>
              <a:t>Mempermudah proses pendaftaran anggota.</a:t>
            </a:r>
          </a:p>
          <a:p>
            <a:pPr algn="just" marL="801105" indent="-400552" lvl="1">
              <a:lnSpc>
                <a:spcPts val="5194"/>
              </a:lnSpc>
              <a:buFont typeface="Arial"/>
              <a:buChar char="•"/>
            </a:pPr>
            <a:r>
              <a:rPr lang="en-US" sz="3710">
                <a:solidFill>
                  <a:srgbClr val="000000"/>
                </a:solidFill>
                <a:latin typeface="Glacial Indifference"/>
                <a:ea typeface="Glacial Indifference"/>
                <a:cs typeface="Glacial Indifference"/>
                <a:sym typeface="Glacial Indifference"/>
              </a:rPr>
              <a:t>Menjadi media promosi digital bagi setiap UKM.</a:t>
            </a:r>
          </a:p>
          <a:p>
            <a:pPr algn="just" marL="801105" indent="-400552" lvl="1">
              <a:lnSpc>
                <a:spcPts val="5194"/>
              </a:lnSpc>
              <a:buFont typeface="Arial"/>
              <a:buChar char="•"/>
            </a:pPr>
            <a:r>
              <a:rPr lang="en-US" sz="3710">
                <a:solidFill>
                  <a:srgbClr val="000000"/>
                </a:solidFill>
                <a:latin typeface="Glacial Indifference"/>
                <a:ea typeface="Glacial Indifference"/>
                <a:cs typeface="Glacial Indifference"/>
                <a:sym typeface="Glacial Indifference"/>
              </a:rPr>
              <a:t>Membantu pengurus mengelola informasi dan kegiatan secara efektif.</a:t>
            </a:r>
          </a:p>
          <a:p>
            <a:pPr algn="just" marL="801105" indent="-400552" lvl="1">
              <a:lnSpc>
                <a:spcPts val="5194"/>
              </a:lnSpc>
              <a:buFont typeface="Arial"/>
              <a:buChar char="•"/>
            </a:pPr>
            <a:r>
              <a:rPr lang="en-US" sz="3710">
                <a:solidFill>
                  <a:srgbClr val="000000"/>
                </a:solidFill>
                <a:latin typeface="Glacial Indifference"/>
                <a:ea typeface="Glacial Indifference"/>
                <a:cs typeface="Glacial Indifference"/>
                <a:sym typeface="Glacial Indifference"/>
              </a:rPr>
              <a:t>Mendukung transformasi digital di lingkungan kampus.</a:t>
            </a:r>
          </a:p>
          <a:p>
            <a:pPr algn="just">
              <a:lnSpc>
                <a:spcPts val="5194"/>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453713" y="724241"/>
            <a:ext cx="10017792" cy="1504129"/>
          </a:xfrm>
          <a:prstGeom prst="rect">
            <a:avLst/>
          </a:prstGeom>
        </p:spPr>
        <p:txBody>
          <a:bodyPr anchor="t" rtlCol="false" tIns="0" lIns="0" bIns="0" rIns="0">
            <a:spAutoFit/>
          </a:bodyPr>
          <a:lstStyle/>
          <a:p>
            <a:pPr algn="l">
              <a:lnSpc>
                <a:spcPts val="10500"/>
              </a:lnSpc>
            </a:pPr>
            <a:r>
              <a:rPr lang="en-US" sz="13125" i="true" spc="-840">
                <a:solidFill>
                  <a:srgbClr val="000000"/>
                </a:solidFill>
                <a:latin typeface="Playfair Display Italics"/>
                <a:ea typeface="Playfair Display Italics"/>
                <a:cs typeface="Playfair Display Italics"/>
                <a:sym typeface="Playfair Display Italics"/>
              </a:rPr>
              <a:t>Manfaat Sistem</a:t>
            </a:r>
          </a:p>
        </p:txBody>
      </p:sp>
      <p:sp>
        <p:nvSpPr>
          <p:cNvPr name="TextBox 67" id="67"/>
          <p:cNvSpPr txBox="true"/>
          <p:nvPr/>
        </p:nvSpPr>
        <p:spPr>
          <a:xfrm rot="0">
            <a:off x="1133475" y="2571270"/>
            <a:ext cx="16230600" cy="6954887"/>
          </a:xfrm>
          <a:prstGeom prst="rect">
            <a:avLst/>
          </a:prstGeom>
        </p:spPr>
        <p:txBody>
          <a:bodyPr anchor="t" rtlCol="false" tIns="0" lIns="0" bIns="0" rIns="0">
            <a:spAutoFit/>
          </a:bodyPr>
          <a:lstStyle/>
          <a:p>
            <a:pPr algn="l">
              <a:lnSpc>
                <a:spcPts val="4634"/>
              </a:lnSpc>
            </a:pPr>
            <a:r>
              <a:rPr lang="en-US" sz="3310" b="true">
                <a:solidFill>
                  <a:srgbClr val="433E2B"/>
                </a:solidFill>
                <a:latin typeface="Glacial Indifference Bold"/>
                <a:ea typeface="Glacial Indifference Bold"/>
                <a:cs typeface="Glacial Indifference Bold"/>
                <a:sym typeface="Glacial Indifference Bold"/>
              </a:rPr>
              <a:t>Bagi Mahasiswa</a:t>
            </a:r>
          </a:p>
          <a:p>
            <a:pPr algn="l" marL="714748" indent="-357374" lvl="1">
              <a:lnSpc>
                <a:spcPts val="4634"/>
              </a:lnSpc>
              <a:buFont typeface="Arial"/>
              <a:buChar char="•"/>
            </a:pPr>
            <a:r>
              <a:rPr lang="en-US" sz="3310">
                <a:solidFill>
                  <a:srgbClr val="433E2B"/>
                </a:solidFill>
                <a:latin typeface="Glacial Indifference"/>
                <a:ea typeface="Glacial Indifference"/>
                <a:cs typeface="Glacial Indifference"/>
                <a:sym typeface="Glacial Indifference"/>
              </a:rPr>
              <a:t>M</a:t>
            </a:r>
            <a:r>
              <a:rPr lang="en-US" sz="3310">
                <a:solidFill>
                  <a:srgbClr val="433E2B"/>
                </a:solidFill>
                <a:latin typeface="Glacial Indifference"/>
                <a:ea typeface="Glacial Indifference"/>
                <a:cs typeface="Glacial Indifference"/>
                <a:sym typeface="Glacial Indifference"/>
              </a:rPr>
              <a:t>emperoleh informasi UKM secara cepat.</a:t>
            </a:r>
          </a:p>
          <a:p>
            <a:pPr algn="l" marL="714748" indent="-357374" lvl="1">
              <a:lnSpc>
                <a:spcPts val="4634"/>
              </a:lnSpc>
              <a:buFont typeface="Arial"/>
              <a:buChar char="•"/>
            </a:pPr>
            <a:r>
              <a:rPr lang="en-US" sz="3310">
                <a:solidFill>
                  <a:srgbClr val="433E2B"/>
                </a:solidFill>
                <a:latin typeface="Glacial Indifference"/>
                <a:ea typeface="Glacial Indifference"/>
                <a:cs typeface="Glacial Indifference"/>
                <a:sym typeface="Glacial Indifference"/>
              </a:rPr>
              <a:t>Pendaftaran menjadi lebih praktis.</a:t>
            </a:r>
          </a:p>
          <a:p>
            <a:pPr algn="l" marL="714748" indent="-357374" lvl="1">
              <a:lnSpc>
                <a:spcPts val="4634"/>
              </a:lnSpc>
              <a:buFont typeface="Arial"/>
              <a:buChar char="•"/>
            </a:pPr>
            <a:r>
              <a:rPr lang="en-US" sz="3310">
                <a:solidFill>
                  <a:srgbClr val="433E2B"/>
                </a:solidFill>
                <a:latin typeface="Glacial Indifference"/>
                <a:ea typeface="Glacial Indifference"/>
                <a:cs typeface="Glacial Indifference"/>
                <a:sym typeface="Glacial Indifference"/>
              </a:rPr>
              <a:t>Memudahkan memilih UKM sesuai minat.</a:t>
            </a:r>
          </a:p>
          <a:p>
            <a:pPr algn="l">
              <a:lnSpc>
                <a:spcPts val="4634"/>
              </a:lnSpc>
            </a:pPr>
            <a:r>
              <a:rPr lang="en-US" sz="3310" b="true">
                <a:solidFill>
                  <a:srgbClr val="433E2B"/>
                </a:solidFill>
                <a:latin typeface="Glacial Indifference Bold"/>
                <a:ea typeface="Glacial Indifference Bold"/>
                <a:cs typeface="Glacial Indifference Bold"/>
                <a:sym typeface="Glacial Indifference Bold"/>
              </a:rPr>
              <a:t>Bagi Pengurus UKM</a:t>
            </a:r>
          </a:p>
          <a:p>
            <a:pPr algn="l" marL="714748" indent="-357374" lvl="1">
              <a:lnSpc>
                <a:spcPts val="4634"/>
              </a:lnSpc>
              <a:buFont typeface="Arial"/>
              <a:buChar char="•"/>
            </a:pPr>
            <a:r>
              <a:rPr lang="en-US" sz="3310">
                <a:solidFill>
                  <a:srgbClr val="433E2B"/>
                </a:solidFill>
                <a:latin typeface="Glacial Indifference"/>
                <a:ea typeface="Glacial Indifference"/>
                <a:cs typeface="Glacial Indifference"/>
                <a:sym typeface="Glacial Indifference"/>
              </a:rPr>
              <a:t>Promosi kegiatan leb</a:t>
            </a:r>
            <a:r>
              <a:rPr lang="en-US" sz="3310">
                <a:solidFill>
                  <a:srgbClr val="433E2B"/>
                </a:solidFill>
                <a:latin typeface="Glacial Indifference"/>
                <a:ea typeface="Glacial Indifference"/>
                <a:cs typeface="Glacial Indifference"/>
                <a:sym typeface="Glacial Indifference"/>
              </a:rPr>
              <a:t>ih efektif.</a:t>
            </a:r>
          </a:p>
          <a:p>
            <a:pPr algn="l" marL="714748" indent="-357374" lvl="1">
              <a:lnSpc>
                <a:spcPts val="4634"/>
              </a:lnSpc>
              <a:buFont typeface="Arial"/>
              <a:buChar char="•"/>
            </a:pPr>
            <a:r>
              <a:rPr lang="en-US" sz="3310">
                <a:solidFill>
                  <a:srgbClr val="433E2B"/>
                </a:solidFill>
                <a:latin typeface="Glacial Indifference"/>
                <a:ea typeface="Glacial Indifference"/>
                <a:cs typeface="Glacial Indifference"/>
                <a:sym typeface="Glacial Indifference"/>
              </a:rPr>
              <a:t>Data anggota lebih terorganisir.</a:t>
            </a:r>
          </a:p>
          <a:p>
            <a:pPr algn="l" marL="714748" indent="-357374" lvl="1">
              <a:lnSpc>
                <a:spcPts val="4634"/>
              </a:lnSpc>
              <a:buFont typeface="Arial"/>
              <a:buChar char="•"/>
            </a:pPr>
            <a:r>
              <a:rPr lang="en-US" sz="3310">
                <a:solidFill>
                  <a:srgbClr val="433E2B"/>
                </a:solidFill>
                <a:latin typeface="Glacial Indifference"/>
                <a:ea typeface="Glacial Indifference"/>
                <a:cs typeface="Glacial Indifference"/>
                <a:sym typeface="Glacial Indifference"/>
              </a:rPr>
              <a:t>Pengelolaan informasi menjadi lebih mudah.</a:t>
            </a:r>
          </a:p>
          <a:p>
            <a:pPr algn="l">
              <a:lnSpc>
                <a:spcPts val="4634"/>
              </a:lnSpc>
            </a:pPr>
            <a:r>
              <a:rPr lang="en-US" b="true" sz="3310">
                <a:solidFill>
                  <a:srgbClr val="433E2B"/>
                </a:solidFill>
                <a:latin typeface="Glacial Indifference Bold"/>
                <a:ea typeface="Glacial Indifference Bold"/>
                <a:cs typeface="Glacial Indifference Bold"/>
                <a:sym typeface="Glacial Indifference Bold"/>
              </a:rPr>
              <a:t>Bagi Universitas</a:t>
            </a:r>
          </a:p>
          <a:p>
            <a:pPr algn="l" marL="714748" indent="-357374" lvl="1">
              <a:lnSpc>
                <a:spcPts val="4634"/>
              </a:lnSpc>
              <a:buFont typeface="Arial"/>
              <a:buChar char="•"/>
            </a:pPr>
            <a:r>
              <a:rPr lang="en-US" sz="3310">
                <a:solidFill>
                  <a:srgbClr val="433E2B"/>
                </a:solidFill>
                <a:latin typeface="Glacial Indifference"/>
                <a:ea typeface="Glacial Indifference"/>
                <a:cs typeface="Glacial Indifference"/>
                <a:sym typeface="Glacial Indifference"/>
              </a:rPr>
              <a:t>Mendukung digitalisasi layanan kemahasiswaan.</a:t>
            </a:r>
          </a:p>
          <a:p>
            <a:pPr algn="l" marL="714748" indent="-357374" lvl="1">
              <a:lnSpc>
                <a:spcPts val="4634"/>
              </a:lnSpc>
              <a:buFont typeface="Arial"/>
              <a:buChar char="•"/>
            </a:pPr>
            <a:r>
              <a:rPr lang="en-US" sz="3310">
                <a:solidFill>
                  <a:srgbClr val="433E2B"/>
                </a:solidFill>
                <a:latin typeface="Glacial Indifference"/>
                <a:ea typeface="Glacial Indifference"/>
                <a:cs typeface="Glacial Indifference"/>
                <a:sym typeface="Glacial Indifference"/>
              </a:rPr>
              <a:t>Meningkatkan partisipasi mahasiswa dalam kegiatan UKM.</a:t>
            </a:r>
          </a:p>
          <a:p>
            <a:pPr algn="l">
              <a:lnSpc>
                <a:spcPts val="4634"/>
              </a:lnSpc>
            </a:pPr>
            <a:r>
              <a:rPr lang="en-US" sz="3310">
                <a:solidFill>
                  <a:srgbClr val="433E2B"/>
                </a:solidFill>
                <a:latin typeface="Glacial Indifference"/>
                <a:ea typeface="Glacial Indifference"/>
                <a:cs typeface="Glacial Indifference"/>
                <a:sym typeface="Glacial Indifference"/>
              </a:rPr>
              <a:t>Menjadi media informasi resmi seluruh UKM.</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1248482" y="1638231"/>
            <a:ext cx="8579385" cy="2868271"/>
          </a:xfrm>
          <a:prstGeom prst="rect">
            <a:avLst/>
          </a:prstGeom>
        </p:spPr>
        <p:txBody>
          <a:bodyPr anchor="t" rtlCol="false" tIns="0" lIns="0" bIns="0" rIns="0">
            <a:spAutoFit/>
          </a:bodyPr>
          <a:lstStyle/>
          <a:p>
            <a:pPr algn="l">
              <a:lnSpc>
                <a:spcPts val="10669"/>
              </a:lnSpc>
            </a:pPr>
            <a:r>
              <a:rPr lang="en-US" sz="13337" i="true" spc="-853">
                <a:solidFill>
                  <a:srgbClr val="000000"/>
                </a:solidFill>
                <a:latin typeface="Playfair Display Italics"/>
                <a:ea typeface="Playfair Display Italics"/>
                <a:cs typeface="Playfair Display Italics"/>
                <a:sym typeface="Playfair Display Italics"/>
              </a:rPr>
              <a:t>Landasan Teori</a:t>
            </a:r>
          </a:p>
        </p:txBody>
      </p:sp>
      <p:sp>
        <p:nvSpPr>
          <p:cNvPr name="TextBox 67" id="67"/>
          <p:cNvSpPr txBox="true"/>
          <p:nvPr/>
        </p:nvSpPr>
        <p:spPr>
          <a:xfrm rot="0">
            <a:off x="6890026" y="9496494"/>
            <a:ext cx="4507948" cy="274320"/>
          </a:xfrm>
          <a:prstGeom prst="rect">
            <a:avLst/>
          </a:prstGeom>
        </p:spPr>
        <p:txBody>
          <a:bodyPr anchor="t" rtlCol="false" tIns="0" lIns="0" bIns="0" rIns="0">
            <a:spAutoFit/>
          </a:bodyPr>
          <a:lstStyle/>
          <a:p>
            <a:pPr algn="ctr">
              <a:lnSpc>
                <a:spcPts val="2160"/>
              </a:lnSpc>
            </a:pPr>
          </a:p>
        </p:txBody>
      </p:sp>
      <p:sp>
        <p:nvSpPr>
          <p:cNvPr name="TextBox 68" id="68"/>
          <p:cNvSpPr txBox="true"/>
          <p:nvPr/>
        </p:nvSpPr>
        <p:spPr>
          <a:xfrm rot="0">
            <a:off x="652432" y="5491671"/>
            <a:ext cx="16915074" cy="3498582"/>
          </a:xfrm>
          <a:prstGeom prst="rect">
            <a:avLst/>
          </a:prstGeom>
        </p:spPr>
        <p:txBody>
          <a:bodyPr anchor="t" rtlCol="false" tIns="0" lIns="0" bIns="0" rIns="0">
            <a:spAutoFit/>
          </a:bodyPr>
          <a:lstStyle/>
          <a:p>
            <a:pPr algn="just">
              <a:lnSpc>
                <a:spcPts val="5614"/>
              </a:lnSpc>
            </a:pPr>
            <a:r>
              <a:rPr lang="en-US" sz="4010">
                <a:solidFill>
                  <a:srgbClr val="000000"/>
                </a:solidFill>
                <a:latin typeface="Glacial Indifference"/>
                <a:ea typeface="Glacial Indifference"/>
                <a:cs typeface="Glacial Indifference"/>
                <a:sym typeface="Glacial Indifference"/>
              </a:rPr>
              <a:t>Si</a:t>
            </a:r>
            <a:r>
              <a:rPr lang="en-US" sz="4010">
                <a:solidFill>
                  <a:srgbClr val="000000"/>
                </a:solidFill>
                <a:latin typeface="Glacial Indifference"/>
                <a:ea typeface="Glacial Indifference"/>
                <a:cs typeface="Glacial Indifference"/>
                <a:sym typeface="Glacial Indifference"/>
              </a:rPr>
              <a:t>stem informasi merupakan sistem yang mengolah data menjadi informasi yang berguna untuk mendukung operasional dan pengambilan keputusan. Pada penelitian ini, sistem informasi digunakan untuk mengembangkan Portal UKM Universitas IPWIJA sebagai media informasi dan pendaftaran UKM berbasis web.</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1905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grpSp>
        <p:nvGrpSpPr>
          <p:cNvPr name="Group 66" id="66"/>
          <p:cNvGrpSpPr/>
          <p:nvPr/>
        </p:nvGrpSpPr>
        <p:grpSpPr>
          <a:xfrm rot="-554077">
            <a:off x="8560352" y="1164181"/>
            <a:ext cx="9427461" cy="2309044"/>
            <a:chOff x="0" y="0"/>
            <a:chExt cx="3621338" cy="886965"/>
          </a:xfrm>
        </p:grpSpPr>
        <p:sp>
          <p:nvSpPr>
            <p:cNvPr name="Freeform 67" id="67"/>
            <p:cNvSpPr/>
            <p:nvPr/>
          </p:nvSpPr>
          <p:spPr>
            <a:xfrm flipH="false" flipV="false" rot="0">
              <a:off x="0" y="0"/>
              <a:ext cx="3621338" cy="886965"/>
            </a:xfrm>
            <a:custGeom>
              <a:avLst/>
              <a:gdLst/>
              <a:ahLst/>
              <a:cxnLst/>
              <a:rect r="r" b="b" t="t" l="l"/>
              <a:pathLst>
                <a:path h="886965" w="3621338">
                  <a:moveTo>
                    <a:pt x="1810669" y="0"/>
                  </a:moveTo>
                  <a:cubicBezTo>
                    <a:pt x="810664" y="0"/>
                    <a:pt x="0" y="198554"/>
                    <a:pt x="0" y="443483"/>
                  </a:cubicBezTo>
                  <a:cubicBezTo>
                    <a:pt x="0" y="688411"/>
                    <a:pt x="810664" y="886965"/>
                    <a:pt x="1810669" y="886965"/>
                  </a:cubicBezTo>
                  <a:cubicBezTo>
                    <a:pt x="2810674" y="886965"/>
                    <a:pt x="3621338" y="688411"/>
                    <a:pt x="3621338" y="443483"/>
                  </a:cubicBezTo>
                  <a:cubicBezTo>
                    <a:pt x="3621338" y="198554"/>
                    <a:pt x="2810674" y="0"/>
                    <a:pt x="1810669" y="0"/>
                  </a:cubicBezTo>
                  <a:close/>
                </a:path>
              </a:pathLst>
            </a:custGeom>
            <a:ln w="19050" cap="sq">
              <a:solidFill>
                <a:srgbClr val="000000"/>
              </a:solidFill>
              <a:prstDash val="solid"/>
              <a:miter/>
            </a:ln>
          </p:spPr>
        </p:sp>
        <p:sp>
          <p:nvSpPr>
            <p:cNvPr name="TextBox 68" id="68"/>
            <p:cNvSpPr txBox="true"/>
            <p:nvPr/>
          </p:nvSpPr>
          <p:spPr>
            <a:xfrm>
              <a:off x="339500" y="45053"/>
              <a:ext cx="2942337" cy="758759"/>
            </a:xfrm>
            <a:prstGeom prst="rect">
              <a:avLst/>
            </a:prstGeom>
          </p:spPr>
          <p:txBody>
            <a:bodyPr anchor="ctr" rtlCol="false" tIns="50800" lIns="50800" bIns="50800" rIns="50800"/>
            <a:lstStyle/>
            <a:p>
              <a:pPr algn="ctr">
                <a:lnSpc>
                  <a:spcPts val="2659"/>
                </a:lnSpc>
                <a:spcBef>
                  <a:spcPct val="0"/>
                </a:spcBef>
              </a:pPr>
            </a:p>
          </p:txBody>
        </p:sp>
      </p:grpSp>
      <p:sp>
        <p:nvSpPr>
          <p:cNvPr name="TextBox 69" id="69"/>
          <p:cNvSpPr txBox="true"/>
          <p:nvPr/>
        </p:nvSpPr>
        <p:spPr>
          <a:xfrm rot="0">
            <a:off x="7557393" y="1032883"/>
            <a:ext cx="8878987" cy="2997543"/>
          </a:xfrm>
          <a:prstGeom prst="rect">
            <a:avLst/>
          </a:prstGeom>
        </p:spPr>
        <p:txBody>
          <a:bodyPr anchor="t" rtlCol="false" tIns="0" lIns="0" bIns="0" rIns="0">
            <a:spAutoFit/>
          </a:bodyPr>
          <a:lstStyle/>
          <a:p>
            <a:pPr algn="r">
              <a:lnSpc>
                <a:spcPts val="11144"/>
              </a:lnSpc>
            </a:pPr>
            <a:r>
              <a:rPr lang="en-US" sz="13930" i="true" spc="-891">
                <a:solidFill>
                  <a:srgbClr val="000000"/>
                </a:solidFill>
                <a:latin typeface="Playfair Display Italics"/>
                <a:ea typeface="Playfair Display Italics"/>
                <a:cs typeface="Playfair Display Italics"/>
                <a:sym typeface="Playfair Display Italics"/>
              </a:rPr>
              <a:t> Pengguna Sistem</a:t>
            </a:r>
          </a:p>
        </p:txBody>
      </p:sp>
      <p:sp>
        <p:nvSpPr>
          <p:cNvPr name="TextBox 70" id="70"/>
          <p:cNvSpPr txBox="true"/>
          <p:nvPr/>
        </p:nvSpPr>
        <p:spPr>
          <a:xfrm rot="0">
            <a:off x="1631798" y="1885830"/>
            <a:ext cx="10248120" cy="5605900"/>
          </a:xfrm>
          <a:prstGeom prst="rect">
            <a:avLst/>
          </a:prstGeom>
        </p:spPr>
        <p:txBody>
          <a:bodyPr anchor="t" rtlCol="false" tIns="0" lIns="0" bIns="0" rIns="0">
            <a:spAutoFit/>
          </a:bodyPr>
          <a:lstStyle/>
          <a:p>
            <a:pPr algn="just">
              <a:lnSpc>
                <a:spcPts val="4438"/>
              </a:lnSpc>
            </a:pPr>
            <a:r>
              <a:rPr lang="en-US" b="true" sz="3170">
                <a:solidFill>
                  <a:srgbClr val="000000"/>
                </a:solidFill>
                <a:latin typeface="Glacial Indifference Bold"/>
                <a:ea typeface="Glacial Indifference Bold"/>
                <a:cs typeface="Glacial Indifference Bold"/>
                <a:sym typeface="Glacial Indifference Bold"/>
              </a:rPr>
              <a:t>Mahasiswa dapat :</a:t>
            </a:r>
          </a:p>
          <a:p>
            <a:pPr algn="l" marL="684467" indent="-342233" lvl="1">
              <a:lnSpc>
                <a:spcPts val="4438"/>
              </a:lnSpc>
              <a:buFont typeface="Arial"/>
              <a:buChar char="•"/>
            </a:pPr>
            <a:r>
              <a:rPr lang="en-US" sz="3170">
                <a:solidFill>
                  <a:srgbClr val="000000"/>
                </a:solidFill>
                <a:latin typeface="Glacial Indifference"/>
                <a:ea typeface="Glacial Indifference"/>
                <a:cs typeface="Glacial Indifference"/>
                <a:sym typeface="Glacial Indifference"/>
              </a:rPr>
              <a:t>Melihat daftar UKM.</a:t>
            </a:r>
          </a:p>
          <a:p>
            <a:pPr algn="l" marL="684467" indent="-342233" lvl="1">
              <a:lnSpc>
                <a:spcPts val="4438"/>
              </a:lnSpc>
              <a:buFont typeface="Arial"/>
              <a:buChar char="•"/>
            </a:pPr>
            <a:r>
              <a:rPr lang="en-US" sz="3170">
                <a:solidFill>
                  <a:srgbClr val="000000"/>
                </a:solidFill>
                <a:latin typeface="Glacial Indifference"/>
                <a:ea typeface="Glacial Indifference"/>
                <a:cs typeface="Glacial Indifference"/>
                <a:sym typeface="Glacial Indifference"/>
              </a:rPr>
              <a:t>Membaca profil UKM.</a:t>
            </a:r>
          </a:p>
          <a:p>
            <a:pPr algn="l" marL="684467" indent="-342233" lvl="1">
              <a:lnSpc>
                <a:spcPts val="4438"/>
              </a:lnSpc>
              <a:buFont typeface="Arial"/>
              <a:buChar char="•"/>
            </a:pPr>
            <a:r>
              <a:rPr lang="en-US" sz="3170">
                <a:solidFill>
                  <a:srgbClr val="000000"/>
                </a:solidFill>
                <a:latin typeface="Glacial Indifference"/>
                <a:ea typeface="Glacial Indifference"/>
                <a:cs typeface="Glacial Indifference"/>
                <a:sym typeface="Glacial Indifference"/>
              </a:rPr>
              <a:t>Melakukan pendaftaran melalui WhatsApp.</a:t>
            </a:r>
          </a:p>
          <a:p>
            <a:pPr algn="just">
              <a:lnSpc>
                <a:spcPts val="4438"/>
              </a:lnSpc>
            </a:pPr>
          </a:p>
          <a:p>
            <a:pPr algn="just">
              <a:lnSpc>
                <a:spcPts val="4438"/>
              </a:lnSpc>
            </a:pPr>
            <a:r>
              <a:rPr lang="en-US" b="true" sz="3170">
                <a:solidFill>
                  <a:srgbClr val="000000"/>
                </a:solidFill>
                <a:latin typeface="Glacial Indifference Bold"/>
                <a:ea typeface="Glacial Indifference Bold"/>
                <a:cs typeface="Glacial Indifference Bold"/>
                <a:sym typeface="Glacial Indifference Bold"/>
              </a:rPr>
              <a:t>Admin bertugas:</a:t>
            </a:r>
          </a:p>
          <a:p>
            <a:pPr algn="just" marL="684467" indent="-342233" lvl="1">
              <a:lnSpc>
                <a:spcPts val="4438"/>
              </a:lnSpc>
              <a:buFont typeface="Arial"/>
              <a:buChar char="•"/>
            </a:pPr>
            <a:r>
              <a:rPr lang="en-US" sz="3170">
                <a:solidFill>
                  <a:srgbClr val="000000"/>
                </a:solidFill>
                <a:latin typeface="Glacial Indifference"/>
                <a:ea typeface="Glacial Indifference"/>
                <a:cs typeface="Glacial Indifference"/>
                <a:sym typeface="Glacial Indifference"/>
              </a:rPr>
              <a:t>Mengelola data UKM.</a:t>
            </a:r>
          </a:p>
          <a:p>
            <a:pPr algn="just" marL="684467" indent="-342233" lvl="1">
              <a:lnSpc>
                <a:spcPts val="4438"/>
              </a:lnSpc>
              <a:buFont typeface="Arial"/>
              <a:buChar char="•"/>
            </a:pPr>
            <a:r>
              <a:rPr lang="en-US" sz="3170">
                <a:solidFill>
                  <a:srgbClr val="000000"/>
                </a:solidFill>
                <a:latin typeface="Glacial Indifference"/>
                <a:ea typeface="Glacial Indifference"/>
                <a:cs typeface="Glacial Indifference"/>
                <a:sym typeface="Glacial Indifference"/>
              </a:rPr>
              <a:t>Admin bertugas untuk menyetujui mahasiswa yg melakukan pendaftaran ukm</a:t>
            </a:r>
          </a:p>
          <a:p>
            <a:pPr algn="just" marL="684467" indent="-342233" lvl="1">
              <a:lnSpc>
                <a:spcPts val="4438"/>
              </a:lnSpc>
              <a:buFont typeface="Arial"/>
              <a:buChar char="•"/>
            </a:pPr>
            <a:r>
              <a:rPr lang="en-US" sz="3170">
                <a:solidFill>
                  <a:srgbClr val="000000"/>
                </a:solidFill>
                <a:latin typeface="Glacial Indifference"/>
                <a:ea typeface="Glacial Indifference"/>
                <a:cs typeface="Glacial Indifference"/>
                <a:sym typeface="Glacial Indifference"/>
              </a:rPr>
              <a:t>Memperbarui informasi pada website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743807" y="902546"/>
            <a:ext cx="13806988" cy="3097932"/>
          </a:xfrm>
          <a:prstGeom prst="rect">
            <a:avLst/>
          </a:prstGeom>
        </p:spPr>
        <p:txBody>
          <a:bodyPr anchor="t" rtlCol="false" tIns="0" lIns="0" bIns="0" rIns="0">
            <a:spAutoFit/>
          </a:bodyPr>
          <a:lstStyle/>
          <a:p>
            <a:pPr algn="l">
              <a:lnSpc>
                <a:spcPts val="10876"/>
              </a:lnSpc>
            </a:pPr>
            <a:r>
              <a:rPr lang="en-US" sz="13595" i="true" spc="-870">
                <a:solidFill>
                  <a:srgbClr val="000000"/>
                </a:solidFill>
                <a:latin typeface="Playfair Display Italics"/>
                <a:ea typeface="Playfair Display Italics"/>
                <a:cs typeface="Playfair Display Italics"/>
                <a:sym typeface="Playfair Display Italics"/>
              </a:rPr>
              <a:t>Fitur Utama Sistem</a:t>
            </a:r>
          </a:p>
          <a:p>
            <a:pPr algn="l">
              <a:lnSpc>
                <a:spcPts val="11996"/>
              </a:lnSpc>
            </a:pPr>
          </a:p>
        </p:txBody>
      </p:sp>
      <p:sp>
        <p:nvSpPr>
          <p:cNvPr name="TextBox 67" id="67"/>
          <p:cNvSpPr txBox="true"/>
          <p:nvPr/>
        </p:nvSpPr>
        <p:spPr>
          <a:xfrm rot="0">
            <a:off x="1265688" y="2983477"/>
            <a:ext cx="16426278" cy="4750946"/>
          </a:xfrm>
          <a:prstGeom prst="rect">
            <a:avLst/>
          </a:prstGeom>
        </p:spPr>
        <p:txBody>
          <a:bodyPr anchor="t" rtlCol="false" tIns="0" lIns="0" bIns="0" rIns="0">
            <a:spAutoFit/>
          </a:bodyPr>
          <a:lstStyle/>
          <a:p>
            <a:pPr algn="l">
              <a:lnSpc>
                <a:spcPts val="4976"/>
              </a:lnSpc>
            </a:pPr>
            <a:r>
              <a:rPr lang="en-US" sz="3554">
                <a:solidFill>
                  <a:srgbClr val="433E2B"/>
                </a:solidFill>
                <a:latin typeface="Glacial Indifference"/>
                <a:ea typeface="Glacial Indifference"/>
                <a:cs typeface="Glacial Indifference"/>
                <a:sym typeface="Glacial Indifference"/>
              </a:rPr>
              <a:t>Fitur-fitur yang tersedia pada website meliputi:</a:t>
            </a:r>
          </a:p>
          <a:p>
            <a:pPr algn="l" marL="724318" indent="-362159" lvl="1">
              <a:lnSpc>
                <a:spcPts val="4696"/>
              </a:lnSpc>
              <a:buFont typeface="Arial"/>
              <a:buChar char="•"/>
            </a:pPr>
            <a:r>
              <a:rPr lang="en-US" sz="3354">
                <a:solidFill>
                  <a:srgbClr val="433E2B"/>
                </a:solidFill>
                <a:latin typeface="Glacial Indifference"/>
                <a:ea typeface="Glacial Indifference"/>
                <a:cs typeface="Glacial Indifference"/>
                <a:sym typeface="Glacial Indifference"/>
              </a:rPr>
              <a:t>Log</a:t>
            </a:r>
            <a:r>
              <a:rPr lang="en-US" sz="3354">
                <a:solidFill>
                  <a:srgbClr val="433E2B"/>
                </a:solidFill>
                <a:latin typeface="Glacial Indifference"/>
                <a:ea typeface="Glacial Indifference"/>
                <a:cs typeface="Glacial Indifference"/>
                <a:sym typeface="Glacial Indifference"/>
              </a:rPr>
              <a:t>in Admin : Digunakan sebagai proses autentikasi agar hanya admin yang memiliki hak akses yang dapat masuk ke sistem dan mengelola data.</a:t>
            </a:r>
          </a:p>
          <a:p>
            <a:pPr algn="l" marL="724318" indent="-362159" lvl="1">
              <a:lnSpc>
                <a:spcPts val="4696"/>
              </a:lnSpc>
              <a:buFont typeface="Arial"/>
              <a:buChar char="•"/>
            </a:pPr>
            <a:r>
              <a:rPr lang="en-US" sz="3354">
                <a:solidFill>
                  <a:srgbClr val="433E2B"/>
                </a:solidFill>
                <a:latin typeface="Glacial Indifference"/>
                <a:ea typeface="Glacial Indifference"/>
                <a:cs typeface="Glacial Indifference"/>
                <a:sym typeface="Glacial Indifference"/>
              </a:rPr>
              <a:t>Dashboard : Menampilkan ringkasan informasi serta visi dan misi universitas ipwija</a:t>
            </a:r>
          </a:p>
          <a:p>
            <a:pPr algn="l" marL="724318" indent="-362159" lvl="1">
              <a:lnSpc>
                <a:spcPts val="4696"/>
              </a:lnSpc>
              <a:buFont typeface="Arial"/>
              <a:buChar char="•"/>
            </a:pPr>
            <a:r>
              <a:rPr lang="en-US" sz="3354">
                <a:solidFill>
                  <a:srgbClr val="433E2B"/>
                </a:solidFill>
                <a:latin typeface="Glacial Indifference"/>
                <a:ea typeface="Glacial Indifference"/>
                <a:cs typeface="Glacial Indifference"/>
                <a:sym typeface="Glacial Indifference"/>
              </a:rPr>
              <a:t>Daftar UKM : Menampilkan daftar seluruh Unit Kegiatan Mahasiswa beserta informasi singkat sehingga mahasiswa dapat memilih UKM sesuai minat.</a:t>
            </a:r>
          </a:p>
          <a:p>
            <a:pPr algn="l" marL="724318" indent="-362159" lvl="1">
              <a:lnSpc>
                <a:spcPts val="4696"/>
              </a:lnSpc>
              <a:buFont typeface="Arial"/>
              <a:buChar char="•"/>
            </a:pPr>
            <a:r>
              <a:rPr lang="en-US" sz="3354">
                <a:solidFill>
                  <a:srgbClr val="433E2B"/>
                </a:solidFill>
                <a:latin typeface="Glacial Indifference"/>
                <a:ea typeface="Glacial Indifference"/>
                <a:cs typeface="Glacial Indifference"/>
                <a:sym typeface="Glacial Indifference"/>
              </a:rPr>
              <a:t>Formulir Pendaftaran: Mempermudah mahasiswa mendaftar UKM secara online</a:t>
            </a:r>
          </a:p>
          <a:p>
            <a:pPr algn="just">
              <a:lnSpc>
                <a:spcPts val="4696"/>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Freeform 66" id="66"/>
          <p:cNvSpPr/>
          <p:nvPr/>
        </p:nvSpPr>
        <p:spPr>
          <a:xfrm flipH="false" flipV="false" rot="0">
            <a:off x="8922502" y="2472528"/>
            <a:ext cx="6210260" cy="6411705"/>
          </a:xfrm>
          <a:custGeom>
            <a:avLst/>
            <a:gdLst/>
            <a:ahLst/>
            <a:cxnLst/>
            <a:rect r="r" b="b" t="t" l="l"/>
            <a:pathLst>
              <a:path h="6411705" w="6210260">
                <a:moveTo>
                  <a:pt x="0" y="0"/>
                </a:moveTo>
                <a:lnTo>
                  <a:pt x="6210260" y="0"/>
                </a:lnTo>
                <a:lnTo>
                  <a:pt x="6210260" y="6411705"/>
                </a:lnTo>
                <a:lnTo>
                  <a:pt x="0" y="6411705"/>
                </a:lnTo>
                <a:lnTo>
                  <a:pt x="0" y="0"/>
                </a:lnTo>
                <a:close/>
              </a:path>
            </a:pathLst>
          </a:custGeom>
          <a:blipFill>
            <a:blip r:embed="rId2"/>
            <a:stretch>
              <a:fillRect l="0" t="0" r="0" b="0"/>
            </a:stretch>
          </a:blipFill>
        </p:spPr>
      </p:sp>
      <p:sp>
        <p:nvSpPr>
          <p:cNvPr name="TextBox 67" id="67"/>
          <p:cNvSpPr txBox="true"/>
          <p:nvPr/>
        </p:nvSpPr>
        <p:spPr>
          <a:xfrm rot="0">
            <a:off x="1760802" y="858767"/>
            <a:ext cx="13806988" cy="2054226"/>
          </a:xfrm>
          <a:prstGeom prst="rect">
            <a:avLst/>
          </a:prstGeom>
        </p:spPr>
        <p:txBody>
          <a:bodyPr anchor="t" rtlCol="false" tIns="0" lIns="0" bIns="0" rIns="0">
            <a:spAutoFit/>
          </a:bodyPr>
          <a:lstStyle/>
          <a:p>
            <a:pPr algn="l">
              <a:lnSpc>
                <a:spcPts val="7600"/>
              </a:lnSpc>
            </a:pPr>
            <a:r>
              <a:rPr lang="en-US" sz="9500" i="true" spc="-608">
                <a:solidFill>
                  <a:srgbClr val="000000"/>
                </a:solidFill>
                <a:latin typeface="Playfair Display Italics"/>
                <a:ea typeface="Playfair Display Italics"/>
                <a:cs typeface="Playfair Display Italics"/>
                <a:sym typeface="Playfair Display Italics"/>
              </a:rPr>
              <a:t>Implementasi antarmuka</a:t>
            </a:r>
          </a:p>
          <a:p>
            <a:pPr algn="l">
              <a:lnSpc>
                <a:spcPts val="7600"/>
              </a:lnSpc>
            </a:pPr>
            <a:r>
              <a:rPr lang="en-US" sz="9500" i="true" spc="-608">
                <a:solidFill>
                  <a:srgbClr val="000000"/>
                </a:solidFill>
                <a:latin typeface="Playfair Display Italics"/>
                <a:ea typeface="Playfair Display Italics"/>
                <a:cs typeface="Playfair Display Italics"/>
                <a:sym typeface="Playfair Display Italics"/>
              </a:rPr>
              <a:t>web</a:t>
            </a:r>
          </a:p>
        </p:txBody>
      </p:sp>
      <p:sp>
        <p:nvSpPr>
          <p:cNvPr name="TextBox 68" id="68"/>
          <p:cNvSpPr txBox="true"/>
          <p:nvPr/>
        </p:nvSpPr>
        <p:spPr>
          <a:xfrm rot="0">
            <a:off x="1202469" y="4320495"/>
            <a:ext cx="6796835" cy="2658621"/>
          </a:xfrm>
          <a:prstGeom prst="rect">
            <a:avLst/>
          </a:prstGeom>
        </p:spPr>
        <p:txBody>
          <a:bodyPr anchor="t" rtlCol="false" tIns="0" lIns="0" bIns="0" rIns="0">
            <a:spAutoFit/>
          </a:bodyPr>
          <a:lstStyle/>
          <a:p>
            <a:pPr algn="just">
              <a:lnSpc>
                <a:spcPts val="4276"/>
              </a:lnSpc>
            </a:pPr>
            <a:r>
              <a:rPr lang="en-US" sz="3054">
                <a:solidFill>
                  <a:srgbClr val="433E2B"/>
                </a:solidFill>
                <a:latin typeface="Glacial Indifference"/>
                <a:ea typeface="Glacial Indifference"/>
                <a:cs typeface="Glacial Indifference"/>
                <a:sym typeface="Glacial Indifference"/>
              </a:rPr>
              <a:t>Portal diimplementasikan dengan desain bersih berbasis Bootstrap. Bagian Header navigasi memuat jalan pintas menuju halaman utama.</a:t>
            </a:r>
          </a:p>
          <a:p>
            <a:pPr algn="just">
              <a:lnSpc>
                <a:spcPts val="3996"/>
              </a:lnSpc>
            </a:pPr>
          </a:p>
        </p:txBody>
      </p:sp>
      <p:sp>
        <p:nvSpPr>
          <p:cNvPr name="TextBox 69" id="69"/>
          <p:cNvSpPr txBox="true"/>
          <p:nvPr/>
        </p:nvSpPr>
        <p:spPr>
          <a:xfrm rot="0">
            <a:off x="1202469" y="3412703"/>
            <a:ext cx="6796835" cy="522481"/>
          </a:xfrm>
          <a:prstGeom prst="rect">
            <a:avLst/>
          </a:prstGeom>
        </p:spPr>
        <p:txBody>
          <a:bodyPr anchor="t" rtlCol="false" tIns="0" lIns="0" bIns="0" rIns="0">
            <a:spAutoFit/>
          </a:bodyPr>
          <a:lstStyle/>
          <a:p>
            <a:pPr algn="just">
              <a:lnSpc>
                <a:spcPts val="4276"/>
              </a:lnSpc>
            </a:pPr>
            <a:r>
              <a:rPr lang="en-US" b="true" sz="3054">
                <a:solidFill>
                  <a:srgbClr val="433E2B"/>
                </a:solidFill>
                <a:latin typeface="Glacial Indifference Bold"/>
                <a:ea typeface="Glacial Indifference Bold"/>
                <a:cs typeface="Glacial Indifference Bold"/>
                <a:sym typeface="Glacial Indifference Bold"/>
              </a:rPr>
              <a:t>UI Halaman beranda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1905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Freeform 66" id="66"/>
          <p:cNvSpPr/>
          <p:nvPr/>
        </p:nvSpPr>
        <p:spPr>
          <a:xfrm flipH="false" flipV="false" rot="0">
            <a:off x="9617929" y="2602748"/>
            <a:ext cx="5505690" cy="6655552"/>
          </a:xfrm>
          <a:custGeom>
            <a:avLst/>
            <a:gdLst/>
            <a:ahLst/>
            <a:cxnLst/>
            <a:rect r="r" b="b" t="t" l="l"/>
            <a:pathLst>
              <a:path h="6655552" w="5505690">
                <a:moveTo>
                  <a:pt x="0" y="0"/>
                </a:moveTo>
                <a:lnTo>
                  <a:pt x="5505689" y="0"/>
                </a:lnTo>
                <a:lnTo>
                  <a:pt x="5505689" y="6655552"/>
                </a:lnTo>
                <a:lnTo>
                  <a:pt x="0" y="6655552"/>
                </a:lnTo>
                <a:lnTo>
                  <a:pt x="0" y="0"/>
                </a:lnTo>
                <a:close/>
              </a:path>
            </a:pathLst>
          </a:custGeom>
          <a:blipFill>
            <a:blip r:embed="rId2"/>
            <a:stretch>
              <a:fillRect l="0" t="0" r="0" b="-7999"/>
            </a:stretch>
          </a:blipFill>
        </p:spPr>
      </p:sp>
      <p:sp>
        <p:nvSpPr>
          <p:cNvPr name="TextBox 67" id="67"/>
          <p:cNvSpPr txBox="true"/>
          <p:nvPr/>
        </p:nvSpPr>
        <p:spPr>
          <a:xfrm rot="0">
            <a:off x="2240506" y="858767"/>
            <a:ext cx="13806988" cy="2054226"/>
          </a:xfrm>
          <a:prstGeom prst="rect">
            <a:avLst/>
          </a:prstGeom>
        </p:spPr>
        <p:txBody>
          <a:bodyPr anchor="t" rtlCol="false" tIns="0" lIns="0" bIns="0" rIns="0">
            <a:spAutoFit/>
          </a:bodyPr>
          <a:lstStyle/>
          <a:p>
            <a:pPr algn="l">
              <a:lnSpc>
                <a:spcPts val="7600"/>
              </a:lnSpc>
            </a:pPr>
            <a:r>
              <a:rPr lang="en-US" sz="9500" i="true" spc="-608">
                <a:solidFill>
                  <a:srgbClr val="000000"/>
                </a:solidFill>
                <a:latin typeface="Playfair Display Italics"/>
                <a:ea typeface="Playfair Display Italics"/>
                <a:cs typeface="Playfair Display Italics"/>
                <a:sym typeface="Playfair Display Italics"/>
              </a:rPr>
              <a:t>Implementasi antarmuka </a:t>
            </a:r>
          </a:p>
          <a:p>
            <a:pPr algn="l">
              <a:lnSpc>
                <a:spcPts val="7600"/>
              </a:lnSpc>
            </a:pPr>
            <a:r>
              <a:rPr lang="en-US" sz="9500" i="true" spc="-608">
                <a:solidFill>
                  <a:srgbClr val="000000"/>
                </a:solidFill>
                <a:latin typeface="Playfair Display Italics"/>
                <a:ea typeface="Playfair Display Italics"/>
                <a:cs typeface="Playfair Display Italics"/>
                <a:sym typeface="Playfair Display Italics"/>
              </a:rPr>
              <a:t>web</a:t>
            </a:r>
          </a:p>
        </p:txBody>
      </p:sp>
      <p:sp>
        <p:nvSpPr>
          <p:cNvPr name="TextBox 68" id="68"/>
          <p:cNvSpPr txBox="true"/>
          <p:nvPr/>
        </p:nvSpPr>
        <p:spPr>
          <a:xfrm rot="0">
            <a:off x="1202469" y="4330020"/>
            <a:ext cx="6796835" cy="1994411"/>
          </a:xfrm>
          <a:prstGeom prst="rect">
            <a:avLst/>
          </a:prstGeom>
        </p:spPr>
        <p:txBody>
          <a:bodyPr anchor="t" rtlCol="false" tIns="0" lIns="0" bIns="0" rIns="0">
            <a:spAutoFit/>
          </a:bodyPr>
          <a:lstStyle/>
          <a:p>
            <a:pPr algn="just">
              <a:lnSpc>
                <a:spcPts val="3996"/>
              </a:lnSpc>
            </a:pPr>
            <a:r>
              <a:rPr lang="en-US" sz="2854">
                <a:solidFill>
                  <a:srgbClr val="433E2B"/>
                </a:solidFill>
                <a:latin typeface="Glacial Indifference"/>
                <a:ea typeface="Glacial Indifference"/>
                <a:cs typeface="Glacial Indifference"/>
                <a:sym typeface="Glacial Indifference"/>
              </a:rPr>
              <a:t>Daf</a:t>
            </a:r>
            <a:r>
              <a:rPr lang="en-US" sz="2854">
                <a:solidFill>
                  <a:srgbClr val="433E2B"/>
                </a:solidFill>
                <a:latin typeface="Glacial Indifference"/>
                <a:ea typeface="Glacial Indifference"/>
                <a:cs typeface="Glacial Indifference"/>
                <a:sym typeface="Glacial Indifference"/>
              </a:rPr>
              <a:t>tar UKM disajikan berupa Cards yang interaktif dan menampilkan info kontak WA Ketua serta tombol eksplorasi detail untuk melihat visi-misi secara rinci.</a:t>
            </a:r>
          </a:p>
        </p:txBody>
      </p:sp>
      <p:sp>
        <p:nvSpPr>
          <p:cNvPr name="TextBox 69" id="69"/>
          <p:cNvSpPr txBox="true"/>
          <p:nvPr/>
        </p:nvSpPr>
        <p:spPr>
          <a:xfrm rot="0">
            <a:off x="1202469" y="3412703"/>
            <a:ext cx="6796835" cy="522481"/>
          </a:xfrm>
          <a:prstGeom prst="rect">
            <a:avLst/>
          </a:prstGeom>
        </p:spPr>
        <p:txBody>
          <a:bodyPr anchor="t" rtlCol="false" tIns="0" lIns="0" bIns="0" rIns="0">
            <a:spAutoFit/>
          </a:bodyPr>
          <a:lstStyle/>
          <a:p>
            <a:pPr algn="just">
              <a:lnSpc>
                <a:spcPts val="4276"/>
              </a:lnSpc>
            </a:pPr>
            <a:r>
              <a:rPr lang="en-US" b="true" sz="3054">
                <a:solidFill>
                  <a:srgbClr val="433E2B"/>
                </a:solidFill>
                <a:latin typeface="Glacial Indifference Bold"/>
                <a:ea typeface="Glacial Indifference Bold"/>
                <a:cs typeface="Glacial Indifference Bold"/>
                <a:sym typeface="Glacial Indifference Bold"/>
              </a:rPr>
              <a:t>UI Halaman Daftar UKM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Freeform 66" id="66"/>
          <p:cNvSpPr/>
          <p:nvPr/>
        </p:nvSpPr>
        <p:spPr>
          <a:xfrm flipH="false" flipV="false" rot="0">
            <a:off x="10136910" y="2773973"/>
            <a:ext cx="5714939" cy="6826177"/>
          </a:xfrm>
          <a:custGeom>
            <a:avLst/>
            <a:gdLst/>
            <a:ahLst/>
            <a:cxnLst/>
            <a:rect r="r" b="b" t="t" l="l"/>
            <a:pathLst>
              <a:path h="6826177" w="5714939">
                <a:moveTo>
                  <a:pt x="0" y="0"/>
                </a:moveTo>
                <a:lnTo>
                  <a:pt x="5714940" y="0"/>
                </a:lnTo>
                <a:lnTo>
                  <a:pt x="5714940" y="6826178"/>
                </a:lnTo>
                <a:lnTo>
                  <a:pt x="0" y="6826178"/>
                </a:lnTo>
                <a:lnTo>
                  <a:pt x="0" y="0"/>
                </a:lnTo>
                <a:close/>
              </a:path>
            </a:pathLst>
          </a:custGeom>
          <a:blipFill>
            <a:blip r:embed="rId2"/>
            <a:stretch>
              <a:fillRect l="0" t="0" r="0" b="0"/>
            </a:stretch>
          </a:blipFill>
        </p:spPr>
      </p:sp>
      <p:sp>
        <p:nvSpPr>
          <p:cNvPr name="TextBox 67" id="67"/>
          <p:cNvSpPr txBox="true"/>
          <p:nvPr/>
        </p:nvSpPr>
        <p:spPr>
          <a:xfrm rot="0">
            <a:off x="2240506" y="858767"/>
            <a:ext cx="13806988" cy="2054226"/>
          </a:xfrm>
          <a:prstGeom prst="rect">
            <a:avLst/>
          </a:prstGeom>
        </p:spPr>
        <p:txBody>
          <a:bodyPr anchor="t" rtlCol="false" tIns="0" lIns="0" bIns="0" rIns="0">
            <a:spAutoFit/>
          </a:bodyPr>
          <a:lstStyle/>
          <a:p>
            <a:pPr algn="l">
              <a:lnSpc>
                <a:spcPts val="7600"/>
              </a:lnSpc>
            </a:pPr>
            <a:r>
              <a:rPr lang="en-US" sz="9500" i="true" spc="-608">
                <a:solidFill>
                  <a:srgbClr val="000000"/>
                </a:solidFill>
                <a:latin typeface="Playfair Display Italics"/>
                <a:ea typeface="Playfair Display Italics"/>
                <a:cs typeface="Playfair Display Italics"/>
                <a:sym typeface="Playfair Display Italics"/>
              </a:rPr>
              <a:t>Implementasi antarmuka </a:t>
            </a:r>
          </a:p>
          <a:p>
            <a:pPr algn="l">
              <a:lnSpc>
                <a:spcPts val="7600"/>
              </a:lnSpc>
            </a:pPr>
            <a:r>
              <a:rPr lang="en-US" sz="9500" i="true" spc="-608">
                <a:solidFill>
                  <a:srgbClr val="000000"/>
                </a:solidFill>
                <a:latin typeface="Playfair Display Italics"/>
                <a:ea typeface="Playfair Display Italics"/>
                <a:cs typeface="Playfair Display Italics"/>
                <a:sym typeface="Playfair Display Italics"/>
              </a:rPr>
              <a:t>web</a:t>
            </a:r>
          </a:p>
        </p:txBody>
      </p:sp>
      <p:sp>
        <p:nvSpPr>
          <p:cNvPr name="TextBox 68" id="68"/>
          <p:cNvSpPr txBox="true"/>
          <p:nvPr/>
        </p:nvSpPr>
        <p:spPr>
          <a:xfrm rot="0">
            <a:off x="1202469" y="4330020"/>
            <a:ext cx="8415228" cy="5528186"/>
          </a:xfrm>
          <a:prstGeom prst="rect">
            <a:avLst/>
          </a:prstGeom>
        </p:spPr>
        <p:txBody>
          <a:bodyPr anchor="t" rtlCol="false" tIns="0" lIns="0" bIns="0" rIns="0">
            <a:spAutoFit/>
          </a:bodyPr>
          <a:lstStyle/>
          <a:p>
            <a:pPr algn="just">
              <a:lnSpc>
                <a:spcPts val="3996"/>
              </a:lnSpc>
            </a:pPr>
            <a:r>
              <a:rPr lang="en-US" sz="2854">
                <a:solidFill>
                  <a:srgbClr val="433E2B"/>
                </a:solidFill>
                <a:latin typeface="Glacial Indifference"/>
                <a:ea typeface="Glacial Indifference"/>
                <a:cs typeface="Glacial Indifference"/>
                <a:sym typeface="Glacial Indifference"/>
              </a:rPr>
              <a:t>Halaman ini merupakan fi</a:t>
            </a:r>
            <a:r>
              <a:rPr lang="en-US" sz="2854">
                <a:solidFill>
                  <a:srgbClr val="433E2B"/>
                </a:solidFill>
                <a:latin typeface="Glacial Indifference"/>
                <a:ea typeface="Glacial Indifference"/>
                <a:cs typeface="Glacial Indifference"/>
                <a:sym typeface="Glacial Indifference"/>
              </a:rPr>
              <a:t>tur yang digunakan mahasiswa untuk mendaftar ke Unit Kegiatan Mahasiswa (UKM) yang diinginkan. Pada halaman ini, pengguna diminta mengisi data diri seperti nama lengkap, NIM, kelas, program studi, serta memilih UKM tujuan. Setelah semua data terisi, pengguna dapat mengirimkan formulir pendaftaran melalui tombol "Kirim Pendaftaran via WhatsApp", sehingga data langsung diteruskan kepada pengurus UKM untuk diproses.</a:t>
            </a:r>
          </a:p>
          <a:p>
            <a:pPr algn="just">
              <a:lnSpc>
                <a:spcPts val="3996"/>
              </a:lnSpc>
            </a:pPr>
          </a:p>
        </p:txBody>
      </p:sp>
      <p:sp>
        <p:nvSpPr>
          <p:cNvPr name="TextBox 69" id="69"/>
          <p:cNvSpPr txBox="true"/>
          <p:nvPr/>
        </p:nvSpPr>
        <p:spPr>
          <a:xfrm rot="0">
            <a:off x="1202469" y="3412703"/>
            <a:ext cx="6796835" cy="522481"/>
          </a:xfrm>
          <a:prstGeom prst="rect">
            <a:avLst/>
          </a:prstGeom>
        </p:spPr>
        <p:txBody>
          <a:bodyPr anchor="t" rtlCol="false" tIns="0" lIns="0" bIns="0" rIns="0">
            <a:spAutoFit/>
          </a:bodyPr>
          <a:lstStyle/>
          <a:p>
            <a:pPr algn="just">
              <a:lnSpc>
                <a:spcPts val="4276"/>
              </a:lnSpc>
            </a:pPr>
            <a:r>
              <a:rPr lang="en-US" b="true" sz="3054">
                <a:solidFill>
                  <a:srgbClr val="433E2B"/>
                </a:solidFill>
                <a:latin typeface="Glacial Indifference Bold"/>
                <a:ea typeface="Glacial Indifference Bold"/>
                <a:cs typeface="Glacial Indifference Bold"/>
                <a:sym typeface="Glacial Indifference Bold"/>
              </a:rPr>
              <a:t>UI Halaman Fomulir Pendaftaran</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1352550" y="1543050"/>
            <a:ext cx="6975068" cy="2843894"/>
          </a:xfrm>
          <a:prstGeom prst="rect">
            <a:avLst/>
          </a:prstGeom>
        </p:spPr>
        <p:txBody>
          <a:bodyPr anchor="t" rtlCol="false" tIns="0" lIns="0" bIns="0" rIns="0">
            <a:spAutoFit/>
          </a:bodyPr>
          <a:lstStyle/>
          <a:p>
            <a:pPr algn="l">
              <a:lnSpc>
                <a:spcPts val="10585"/>
              </a:lnSpc>
            </a:pPr>
            <a:r>
              <a:rPr lang="en-US" sz="13232" i="true" spc="-846">
                <a:solidFill>
                  <a:srgbClr val="000000"/>
                </a:solidFill>
                <a:latin typeface="Playfair Display Italics"/>
                <a:ea typeface="Playfair Display Italics"/>
                <a:cs typeface="Playfair Display Italics"/>
                <a:sym typeface="Playfair Display Italics"/>
              </a:rPr>
              <a:t>Alur Sistem :</a:t>
            </a:r>
          </a:p>
        </p:txBody>
      </p:sp>
      <p:sp>
        <p:nvSpPr>
          <p:cNvPr name="TextBox 67" id="67"/>
          <p:cNvSpPr txBox="true"/>
          <p:nvPr/>
        </p:nvSpPr>
        <p:spPr>
          <a:xfrm rot="0">
            <a:off x="4242528" y="189177"/>
            <a:ext cx="12226890" cy="8374841"/>
          </a:xfrm>
          <a:prstGeom prst="rect">
            <a:avLst/>
          </a:prstGeom>
        </p:spPr>
        <p:txBody>
          <a:bodyPr anchor="t" rtlCol="false" tIns="0" lIns="0" bIns="0" rIns="0">
            <a:spAutoFit/>
          </a:bodyPr>
          <a:lstStyle/>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Mulai</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Buka Portal Web</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Masuk ke beranda</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Lihat daftar UKM</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Melihat detail UKM</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Lanjutkan Pendaftaran</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Melakukan pendaftaran dengan mengisi bio data diri</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Melakukan konfirmasi kepada admin setelah melakukan pendaftaran</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a:t>
            </a:r>
          </a:p>
          <a:p>
            <a:pPr algn="ctr">
              <a:lnSpc>
                <a:spcPts val="3888"/>
              </a:lnSpc>
            </a:pPr>
            <a:r>
              <a:rPr lang="en-US" b="true" sz="2777">
                <a:solidFill>
                  <a:srgbClr val="433E2B"/>
                </a:solidFill>
                <a:latin typeface="Glacial Indifference Bold"/>
                <a:ea typeface="Glacial Indifference Bold"/>
                <a:cs typeface="Glacial Indifference Bold"/>
                <a:sym typeface="Glacial Indifference Bold"/>
              </a:rPr>
              <a:t>Selesai</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795657" y="858361"/>
            <a:ext cx="13003371" cy="1155131"/>
          </a:xfrm>
          <a:prstGeom prst="rect">
            <a:avLst/>
          </a:prstGeom>
        </p:spPr>
        <p:txBody>
          <a:bodyPr anchor="t" rtlCol="false" tIns="0" lIns="0" bIns="0" rIns="0">
            <a:spAutoFit/>
          </a:bodyPr>
          <a:lstStyle/>
          <a:p>
            <a:pPr algn="l">
              <a:lnSpc>
                <a:spcPts val="8141"/>
              </a:lnSpc>
            </a:pPr>
            <a:r>
              <a:rPr lang="en-US" sz="10176" i="true" spc="-651">
                <a:solidFill>
                  <a:srgbClr val="000000"/>
                </a:solidFill>
                <a:latin typeface="Playfair Display Italics"/>
                <a:ea typeface="Playfair Display Italics"/>
                <a:cs typeface="Playfair Display Italics"/>
                <a:sym typeface="Playfair Display Italics"/>
              </a:rPr>
              <a:t>Teknologi yang digunakan :</a:t>
            </a:r>
          </a:p>
        </p:txBody>
      </p:sp>
      <p:sp>
        <p:nvSpPr>
          <p:cNvPr name="TextBox 67" id="67"/>
          <p:cNvSpPr txBox="true"/>
          <p:nvPr/>
        </p:nvSpPr>
        <p:spPr>
          <a:xfrm rot="0">
            <a:off x="1028700" y="2506697"/>
            <a:ext cx="16482186" cy="6784169"/>
          </a:xfrm>
          <a:prstGeom prst="rect">
            <a:avLst/>
          </a:prstGeom>
        </p:spPr>
        <p:txBody>
          <a:bodyPr anchor="t" rtlCol="false" tIns="0" lIns="0" bIns="0" rIns="0">
            <a:spAutoFit/>
          </a:bodyPr>
          <a:lstStyle/>
          <a:p>
            <a:pPr algn="just">
              <a:lnSpc>
                <a:spcPts val="3474"/>
              </a:lnSpc>
            </a:pPr>
            <a:r>
              <a:rPr lang="en-US" b="true" sz="2481">
                <a:solidFill>
                  <a:srgbClr val="000000"/>
                </a:solidFill>
                <a:latin typeface="Glacial Indifference Bold"/>
                <a:ea typeface="Glacial Indifference Bold"/>
                <a:cs typeface="Glacial Indifference Bold"/>
                <a:sym typeface="Glacial Indifference Bold"/>
              </a:rPr>
              <a:t>B</a:t>
            </a:r>
            <a:r>
              <a:rPr lang="en-US" b="true" sz="2481">
                <a:solidFill>
                  <a:srgbClr val="000000"/>
                </a:solidFill>
                <a:latin typeface="Glacial Indifference Bold"/>
                <a:ea typeface="Glacial Indifference Bold"/>
                <a:cs typeface="Glacial Indifference Bold"/>
                <a:sym typeface="Glacial Indifference Bold"/>
              </a:rPr>
              <a:t>ackend</a:t>
            </a:r>
          </a:p>
          <a:p>
            <a:pPr algn="just" marL="514216" indent="-257108" lvl="1">
              <a:lnSpc>
                <a:spcPts val="3334"/>
              </a:lnSpc>
              <a:buFont typeface="Arial"/>
              <a:buChar char="•"/>
            </a:pPr>
            <a:r>
              <a:rPr lang="en-US" b="true" sz="2381">
                <a:solidFill>
                  <a:srgbClr val="000000"/>
                </a:solidFill>
                <a:latin typeface="Glacial Indifference Bold"/>
                <a:ea typeface="Glacial Indifference Bold"/>
                <a:cs typeface="Glacial Indifference Bold"/>
                <a:sym typeface="Glacial Indifference Bold"/>
              </a:rPr>
              <a:t>Spring Boot : </a:t>
            </a:r>
            <a:r>
              <a:rPr lang="en-US" sz="2381">
                <a:solidFill>
                  <a:srgbClr val="000000"/>
                </a:solidFill>
                <a:latin typeface="Glacial Indifference"/>
                <a:ea typeface="Glacial Indifference"/>
                <a:cs typeface="Glacial Indifference"/>
                <a:sym typeface="Glacial Indifference"/>
              </a:rPr>
              <a:t>Spring Boot digunakan sebagai framework backend untuk mengelola logika bisnis, memproses data, menghubungkan aplikasi dengan database, serta menyediakan layanan yang dibutuhkan oleh sistem.</a:t>
            </a:r>
          </a:p>
          <a:p>
            <a:pPr algn="just">
              <a:lnSpc>
                <a:spcPts val="3334"/>
              </a:lnSpc>
            </a:pPr>
          </a:p>
          <a:p>
            <a:pPr algn="just">
              <a:lnSpc>
                <a:spcPts val="3474"/>
              </a:lnSpc>
            </a:pPr>
            <a:r>
              <a:rPr lang="en-US" b="true" sz="2481">
                <a:solidFill>
                  <a:srgbClr val="000000"/>
                </a:solidFill>
                <a:latin typeface="Glacial Indifference Bold"/>
                <a:ea typeface="Glacial Indifference Bold"/>
                <a:cs typeface="Glacial Indifference Bold"/>
                <a:sym typeface="Glacial Indifference Bold"/>
              </a:rPr>
              <a:t>Frontend</a:t>
            </a:r>
          </a:p>
          <a:p>
            <a:pPr algn="just" marL="514216" indent="-257108" lvl="1">
              <a:lnSpc>
                <a:spcPts val="3334"/>
              </a:lnSpc>
              <a:buFont typeface="Arial"/>
              <a:buChar char="•"/>
            </a:pPr>
            <a:r>
              <a:rPr lang="en-US" b="true" sz="2381">
                <a:solidFill>
                  <a:srgbClr val="000000"/>
                </a:solidFill>
                <a:latin typeface="Glacial Indifference Bold"/>
                <a:ea typeface="Glacial Indifference Bold"/>
                <a:cs typeface="Glacial Indifference Bold"/>
                <a:sym typeface="Glacial Indifference Bold"/>
              </a:rPr>
              <a:t>HTML :  </a:t>
            </a:r>
            <a:r>
              <a:rPr lang="en-US" sz="2381">
                <a:solidFill>
                  <a:srgbClr val="000000"/>
                </a:solidFill>
                <a:latin typeface="Glacial Indifference"/>
                <a:ea typeface="Glacial Indifference"/>
                <a:cs typeface="Glacial Indifference"/>
                <a:sym typeface="Glacial Indifference"/>
              </a:rPr>
              <a:t>Digunakan untuk menyusun struktur dan konten halaman website.</a:t>
            </a:r>
          </a:p>
          <a:p>
            <a:pPr algn="just" marL="514216" indent="-257108" lvl="1">
              <a:lnSpc>
                <a:spcPts val="3334"/>
              </a:lnSpc>
              <a:buFont typeface="Arial"/>
              <a:buChar char="•"/>
            </a:pPr>
            <a:r>
              <a:rPr lang="en-US" b="true" sz="2381">
                <a:solidFill>
                  <a:srgbClr val="000000"/>
                </a:solidFill>
                <a:latin typeface="Glacial Indifference Bold"/>
                <a:ea typeface="Glacial Indifference Bold"/>
                <a:cs typeface="Glacial Indifference Bold"/>
                <a:sym typeface="Glacial Indifference Bold"/>
              </a:rPr>
              <a:t>CSS : </a:t>
            </a:r>
            <a:r>
              <a:rPr lang="en-US" sz="2381">
                <a:solidFill>
                  <a:srgbClr val="000000"/>
                </a:solidFill>
                <a:latin typeface="Glacial Indifference"/>
                <a:ea typeface="Glacial Indifference"/>
                <a:cs typeface="Glacial Indifference"/>
                <a:sym typeface="Glacial Indifference"/>
              </a:rPr>
              <a:t>Digunakan untuk mengatur tampilan agar website lebih menarik, rapi, dan responsif.</a:t>
            </a:r>
          </a:p>
          <a:p>
            <a:pPr algn="just" marL="514216" indent="-257108" lvl="1">
              <a:lnSpc>
                <a:spcPts val="3334"/>
              </a:lnSpc>
              <a:buFont typeface="Arial"/>
              <a:buChar char="•"/>
            </a:pPr>
            <a:r>
              <a:rPr lang="en-US" b="true" sz="2381">
                <a:solidFill>
                  <a:srgbClr val="000000"/>
                </a:solidFill>
                <a:latin typeface="Glacial Indifference Bold"/>
                <a:ea typeface="Glacial Indifference Bold"/>
                <a:cs typeface="Glacial Indifference Bold"/>
                <a:sym typeface="Glacial Indifference Bold"/>
              </a:rPr>
              <a:t>JavaScript : </a:t>
            </a:r>
            <a:r>
              <a:rPr lang="en-US" sz="2381">
                <a:solidFill>
                  <a:srgbClr val="000000"/>
                </a:solidFill>
                <a:latin typeface="Glacial Indifference"/>
                <a:ea typeface="Glacial Indifference"/>
                <a:cs typeface="Glacial Indifference"/>
                <a:sym typeface="Glacial Indifference"/>
              </a:rPr>
              <a:t>Digunakan untuk memberikan interaksi pada halaman web, seperti validasi form dan fungsi tombol.</a:t>
            </a:r>
          </a:p>
          <a:p>
            <a:pPr algn="just" marL="514216" indent="-257108" lvl="1">
              <a:lnSpc>
                <a:spcPts val="3334"/>
              </a:lnSpc>
              <a:buFont typeface="Arial"/>
              <a:buChar char="•"/>
            </a:pPr>
            <a:r>
              <a:rPr lang="en-US" b="true" sz="2381">
                <a:solidFill>
                  <a:srgbClr val="000000"/>
                </a:solidFill>
                <a:latin typeface="Glacial Indifference Bold"/>
                <a:ea typeface="Glacial Indifference Bold"/>
                <a:cs typeface="Glacial Indifference Bold"/>
                <a:sym typeface="Glacial Indifference Bold"/>
              </a:rPr>
              <a:t>Github &amp; Deployment : </a:t>
            </a:r>
            <a:r>
              <a:rPr lang="en-US" sz="2381">
                <a:solidFill>
                  <a:srgbClr val="000000"/>
                </a:solidFill>
                <a:latin typeface="Glacial Indifference"/>
                <a:ea typeface="Glacial Indifference"/>
                <a:cs typeface="Glacial Indifference"/>
                <a:sym typeface="Glacial Indifference"/>
              </a:rPr>
              <a:t>Platform Version Control berbasis awan (cloud) untuk kolaborasi pengembangan kode sumber tim developer serta kemudahan sinkronisasi berkas sistem informasi menuju Virtual Private Server (VPS).</a:t>
            </a:r>
          </a:p>
          <a:p>
            <a:pPr algn="just">
              <a:lnSpc>
                <a:spcPts val="3334"/>
              </a:lnSpc>
            </a:pPr>
          </a:p>
          <a:p>
            <a:pPr algn="just">
              <a:lnSpc>
                <a:spcPts val="3474"/>
              </a:lnSpc>
            </a:pPr>
            <a:r>
              <a:rPr lang="en-US" b="true" sz="2481">
                <a:solidFill>
                  <a:srgbClr val="000000"/>
                </a:solidFill>
                <a:latin typeface="Glacial Indifference Bold"/>
                <a:ea typeface="Glacial Indifference Bold"/>
                <a:cs typeface="Glacial Indifference Bold"/>
                <a:sym typeface="Glacial Indifference Bold"/>
              </a:rPr>
              <a:t>Database MySQL</a:t>
            </a:r>
          </a:p>
          <a:p>
            <a:pPr algn="just" marL="514216" indent="-257108" lvl="1">
              <a:lnSpc>
                <a:spcPts val="3334"/>
              </a:lnSpc>
              <a:buFont typeface="Arial"/>
              <a:buChar char="•"/>
            </a:pPr>
            <a:r>
              <a:rPr lang="en-US" sz="2381">
                <a:solidFill>
                  <a:srgbClr val="000000"/>
                </a:solidFill>
                <a:latin typeface="Glacial Indifference"/>
                <a:ea typeface="Glacial Indifference"/>
                <a:cs typeface="Glacial Indifference"/>
                <a:sym typeface="Glacial Indifference"/>
              </a:rPr>
              <a:t>Database pada admin berfungsi untuk menambah atau menghapus sebuah UKM di universitas ipwija</a:t>
            </a:r>
          </a:p>
          <a:p>
            <a:pPr algn="just">
              <a:lnSpc>
                <a:spcPts val="3334"/>
              </a:lnSpc>
            </a:pPr>
            <a:r>
              <a:rPr lang="en-US" sz="2381">
                <a:solidFill>
                  <a:srgbClr val="000000"/>
                </a:solidFill>
                <a:latin typeface="Glacial Indifference"/>
                <a:ea typeface="Glacial Indifference"/>
                <a:cs typeface="Glacial Indifference"/>
                <a:sym typeface="Glacial Indifference"/>
              </a:rPr>
              <a:t>Kombinasi teknologi tersebut dipilih karena mudah dikembangkan, memiliki performa yang baik, serta mendukung pengelolaan data secara efisien.</a:t>
            </a:r>
          </a:p>
          <a:p>
            <a:pPr algn="just">
              <a:lnSpc>
                <a:spcPts val="3614"/>
              </a:lnSpc>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3369643" y="854337"/>
            <a:ext cx="11548715" cy="1419644"/>
          </a:xfrm>
          <a:prstGeom prst="rect">
            <a:avLst/>
          </a:prstGeom>
        </p:spPr>
        <p:txBody>
          <a:bodyPr anchor="t" rtlCol="false" tIns="0" lIns="0" bIns="0" rIns="0">
            <a:spAutoFit/>
          </a:bodyPr>
          <a:lstStyle/>
          <a:p>
            <a:pPr algn="ctr">
              <a:lnSpc>
                <a:spcPts val="9906"/>
              </a:lnSpc>
            </a:pPr>
            <a:r>
              <a:rPr lang="en-US" sz="12383" i="true" spc="-792">
                <a:solidFill>
                  <a:srgbClr val="000000"/>
                </a:solidFill>
                <a:latin typeface="Playfair Display Italics"/>
                <a:ea typeface="Playfair Display Italics"/>
                <a:cs typeface="Playfair Display Italics"/>
                <a:sym typeface="Playfair Display Italics"/>
              </a:rPr>
              <a:t>Keunggulan Sistem</a:t>
            </a:r>
          </a:p>
        </p:txBody>
      </p:sp>
      <p:sp>
        <p:nvSpPr>
          <p:cNvPr name="TextBox 67" id="67"/>
          <p:cNvSpPr txBox="true"/>
          <p:nvPr/>
        </p:nvSpPr>
        <p:spPr>
          <a:xfrm rot="0">
            <a:off x="797281" y="4149281"/>
            <a:ext cx="16887120" cy="5126722"/>
          </a:xfrm>
          <a:prstGeom prst="rect">
            <a:avLst/>
          </a:prstGeom>
        </p:spPr>
        <p:txBody>
          <a:bodyPr anchor="t" rtlCol="false" tIns="0" lIns="0" bIns="0" rIns="0">
            <a:spAutoFit/>
          </a:bodyPr>
          <a:lstStyle/>
          <a:p>
            <a:pPr algn="l" marL="628390" indent="-314195" lvl="1">
              <a:lnSpc>
                <a:spcPts val="4074"/>
              </a:lnSpc>
              <a:buAutoNum type="arabicPeriod" startAt="1"/>
            </a:pPr>
            <a:r>
              <a:rPr lang="en-US" b="true" sz="2910">
                <a:solidFill>
                  <a:srgbClr val="000000"/>
                </a:solidFill>
                <a:latin typeface="Glacial Indifference Bold"/>
                <a:ea typeface="Glacial Indifference Bold"/>
                <a:cs typeface="Glacial Indifference Bold"/>
                <a:sym typeface="Glacial Indifference Bold"/>
              </a:rPr>
              <a:t> Informasi terpusat : </a:t>
            </a:r>
            <a:r>
              <a:rPr lang="en-US" sz="2910">
                <a:solidFill>
                  <a:srgbClr val="000000"/>
                </a:solidFill>
                <a:latin typeface="Glacial Indifference"/>
                <a:ea typeface="Glacial Indifference"/>
                <a:cs typeface="Glacial Indifference"/>
                <a:sym typeface="Glacial Indifference"/>
              </a:rPr>
              <a:t>Seluruh informasi mengenai UKM, mulai dari profil, tersedia dalam satu website sehingga mudah diakses.</a:t>
            </a:r>
          </a:p>
          <a:p>
            <a:pPr algn="l" marL="628390" indent="-314195" lvl="1">
              <a:lnSpc>
                <a:spcPts val="4074"/>
              </a:lnSpc>
              <a:buAutoNum type="arabicPeriod" startAt="1"/>
            </a:pPr>
            <a:r>
              <a:rPr lang="en-US" b="true" sz="2910">
                <a:solidFill>
                  <a:srgbClr val="000000"/>
                </a:solidFill>
                <a:latin typeface="Glacial Indifference Bold"/>
                <a:ea typeface="Glacial Indifference Bold"/>
                <a:cs typeface="Glacial Indifference Bold"/>
                <a:sym typeface="Glacial Indifference Bold"/>
              </a:rPr>
              <a:t> </a:t>
            </a:r>
            <a:r>
              <a:rPr lang="en-US" b="true" sz="2910">
                <a:solidFill>
                  <a:srgbClr val="000000"/>
                </a:solidFill>
                <a:latin typeface="Glacial Indifference Bold"/>
                <a:ea typeface="Glacial Indifference Bold"/>
                <a:cs typeface="Glacial Indifference Bold"/>
                <a:sym typeface="Glacial Indifference Bold"/>
              </a:rPr>
              <a:t>Mudah diakses : </a:t>
            </a:r>
            <a:r>
              <a:rPr lang="en-US" sz="2910">
                <a:solidFill>
                  <a:srgbClr val="000000"/>
                </a:solidFill>
                <a:latin typeface="Glacial Indifference"/>
                <a:ea typeface="Glacial Indifference"/>
                <a:cs typeface="Glacial Indifference"/>
                <a:sym typeface="Glacial Indifference"/>
              </a:rPr>
              <a:t>Sistem berbasis web sehingga dapat diakses kapan saja dan di mana saja melalui perangkat yang terhubung ke internet.</a:t>
            </a:r>
          </a:p>
          <a:p>
            <a:pPr algn="l" marL="628390" indent="-314195" lvl="1">
              <a:lnSpc>
                <a:spcPts val="4074"/>
              </a:lnSpc>
              <a:buAutoNum type="arabicPeriod" startAt="1"/>
            </a:pPr>
            <a:r>
              <a:rPr lang="en-US" b="true" sz="2910">
                <a:solidFill>
                  <a:srgbClr val="000000"/>
                </a:solidFill>
                <a:latin typeface="Glacial Indifference Bold"/>
                <a:ea typeface="Glacial Indifference Bold"/>
                <a:cs typeface="Glacial Indifference Bold"/>
                <a:sym typeface="Glacial Indifference Bold"/>
              </a:rPr>
              <a:t> </a:t>
            </a:r>
            <a:r>
              <a:rPr lang="en-US" b="true" sz="2910">
                <a:solidFill>
                  <a:srgbClr val="000000"/>
                </a:solidFill>
                <a:latin typeface="Glacial Indifference Bold"/>
                <a:ea typeface="Glacial Indifference Bold"/>
                <a:cs typeface="Glacial Indifference Bold"/>
                <a:sym typeface="Glacial Indifference Bold"/>
              </a:rPr>
              <a:t>P</a:t>
            </a:r>
            <a:r>
              <a:rPr lang="en-US" b="true" sz="2910">
                <a:solidFill>
                  <a:srgbClr val="000000"/>
                </a:solidFill>
                <a:latin typeface="Glacial Indifference Bold"/>
                <a:ea typeface="Glacial Indifference Bold"/>
                <a:cs typeface="Glacial Indifference Bold"/>
                <a:sym typeface="Glacial Indifference Bold"/>
              </a:rPr>
              <a:t>endaftaran cepat : </a:t>
            </a:r>
            <a:r>
              <a:rPr lang="en-US" sz="2910">
                <a:solidFill>
                  <a:srgbClr val="000000"/>
                </a:solidFill>
                <a:latin typeface="Glacial Indifference"/>
                <a:ea typeface="Glacial Indifference"/>
                <a:cs typeface="Glacial Indifference"/>
                <a:sym typeface="Glacial Indifference"/>
              </a:rPr>
              <a:t>Mahasiswa dapat langsung melakukan pendaftaran melalui tombol yang terhubung ke WhatsApp pengurus UKM tanpa harus datang langsung.</a:t>
            </a:r>
          </a:p>
          <a:p>
            <a:pPr algn="l" marL="628390" indent="-314195" lvl="1">
              <a:lnSpc>
                <a:spcPts val="4074"/>
              </a:lnSpc>
              <a:buAutoNum type="arabicPeriod" startAt="1"/>
            </a:pPr>
            <a:r>
              <a:rPr lang="en-US" b="true" sz="2910">
                <a:solidFill>
                  <a:srgbClr val="000000"/>
                </a:solidFill>
                <a:latin typeface="Glacial Indifference Bold"/>
                <a:ea typeface="Glacial Indifference Bold"/>
                <a:cs typeface="Glacial Indifference Bold"/>
                <a:sym typeface="Glacial Indifference Bold"/>
              </a:rPr>
              <a:t> Data UKM tersimpan dalam database dan teroganisir oleh admin</a:t>
            </a:r>
          </a:p>
          <a:p>
            <a:pPr algn="l" marL="628390" indent="-314195" lvl="1">
              <a:lnSpc>
                <a:spcPts val="4074"/>
              </a:lnSpc>
              <a:buAutoNum type="arabicPeriod" startAt="1"/>
            </a:pPr>
            <a:r>
              <a:rPr lang="en-US" b="true" sz="2910">
                <a:solidFill>
                  <a:srgbClr val="000000"/>
                </a:solidFill>
                <a:latin typeface="Glacial Indifference Bold"/>
                <a:ea typeface="Glacial Indifference Bold"/>
                <a:cs typeface="Glacial Indifference Bold"/>
                <a:sym typeface="Glacial Indifference Bold"/>
              </a:rPr>
              <a:t> </a:t>
            </a:r>
            <a:r>
              <a:rPr lang="en-US" b="true" sz="2910">
                <a:solidFill>
                  <a:srgbClr val="000000"/>
                </a:solidFill>
                <a:latin typeface="Glacial Indifference Bold"/>
                <a:ea typeface="Glacial Indifference Bold"/>
                <a:cs typeface="Glacial Indifference Bold"/>
                <a:sym typeface="Glacial Indifference Bold"/>
              </a:rPr>
              <a:t>Mendukung digitalisasi : </a:t>
            </a:r>
            <a:r>
              <a:rPr lang="en-US" sz="2910">
                <a:solidFill>
                  <a:srgbClr val="000000"/>
                </a:solidFill>
                <a:latin typeface="Glacial Indifference"/>
                <a:ea typeface="Glacial Indifference"/>
                <a:cs typeface="Glacial Indifference"/>
                <a:sym typeface="Glacial Indifference"/>
              </a:rPr>
              <a:t>Sistem membantu proses digitalisasi layanan kemahasiswaan dengan menggantikan proses penyampaian informasi dan pendaftaran yang sebelumnya masih dilakukan secara manual.</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CFBF6"/>
        </a:solidFill>
      </p:bgPr>
    </p:bg>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sp>
        <p:nvSpPr>
          <p:cNvPr name="TextBox 66" id="66"/>
          <p:cNvSpPr txBox="true"/>
          <p:nvPr/>
        </p:nvSpPr>
        <p:spPr>
          <a:xfrm rot="0">
            <a:off x="3369643" y="1590606"/>
            <a:ext cx="11548715" cy="1419644"/>
          </a:xfrm>
          <a:prstGeom prst="rect">
            <a:avLst/>
          </a:prstGeom>
        </p:spPr>
        <p:txBody>
          <a:bodyPr anchor="t" rtlCol="false" tIns="0" lIns="0" bIns="0" rIns="0">
            <a:spAutoFit/>
          </a:bodyPr>
          <a:lstStyle/>
          <a:p>
            <a:pPr algn="ctr">
              <a:lnSpc>
                <a:spcPts val="9906"/>
              </a:lnSpc>
            </a:pPr>
            <a:r>
              <a:rPr lang="en-US" sz="12383" i="true" spc="-792">
                <a:solidFill>
                  <a:srgbClr val="000000"/>
                </a:solidFill>
                <a:latin typeface="Playfair Display Italics"/>
                <a:ea typeface="Playfair Display Italics"/>
                <a:cs typeface="Playfair Display Italics"/>
                <a:sym typeface="Playfair Display Italics"/>
              </a:rPr>
              <a:t>kesimpulan</a:t>
            </a:r>
          </a:p>
        </p:txBody>
      </p:sp>
      <p:sp>
        <p:nvSpPr>
          <p:cNvPr name="TextBox 67" id="67"/>
          <p:cNvSpPr txBox="true"/>
          <p:nvPr/>
        </p:nvSpPr>
        <p:spPr>
          <a:xfrm rot="0">
            <a:off x="590215" y="4294401"/>
            <a:ext cx="17138706" cy="4573002"/>
          </a:xfrm>
          <a:prstGeom prst="rect">
            <a:avLst/>
          </a:prstGeom>
        </p:spPr>
        <p:txBody>
          <a:bodyPr anchor="t" rtlCol="false" tIns="0" lIns="0" bIns="0" rIns="0">
            <a:spAutoFit/>
          </a:bodyPr>
          <a:lstStyle/>
          <a:p>
            <a:pPr algn="just">
              <a:lnSpc>
                <a:spcPts val="5194"/>
              </a:lnSpc>
            </a:pPr>
            <a:r>
              <a:rPr lang="en-US" b="true" sz="3710">
                <a:solidFill>
                  <a:srgbClr val="000000"/>
                </a:solidFill>
                <a:latin typeface="Glacial Indifference Bold"/>
                <a:ea typeface="Glacial Indifference Bold"/>
                <a:cs typeface="Glacial Indifference Bold"/>
                <a:sym typeface="Glacial Indifference Bold"/>
              </a:rPr>
              <a:t>IPWIJA UKM</a:t>
            </a:r>
            <a:r>
              <a:rPr lang="en-US" sz="3710">
                <a:solidFill>
                  <a:srgbClr val="000000"/>
                </a:solidFill>
                <a:latin typeface="Glacial Indifference"/>
                <a:ea typeface="Glacial Indifference"/>
                <a:cs typeface="Glacial Indifference"/>
                <a:sym typeface="Glacial Indifference"/>
              </a:rPr>
              <a:t> Hub merupakan sistem informasi berbasis web yang mengintegrasikan informasi dan proses pendaftaran UKM dalam satu platform. Sistem </a:t>
            </a:r>
            <a:r>
              <a:rPr lang="en-US" sz="3710">
                <a:solidFill>
                  <a:srgbClr val="000000"/>
                </a:solidFill>
                <a:latin typeface="Glacial Indifference"/>
                <a:ea typeface="Glacial Indifference"/>
                <a:cs typeface="Glacial Indifference"/>
                <a:sym typeface="Glacial Indifference"/>
              </a:rPr>
              <a:t>ini mampu mempermudah mahasiswa memperoleh informasi, mempercepat proses pendaftaran anggota, meningkatkan promosi UKM, serta membantu pengurus dalam mengelola data dan kegiatan secara lebih efektif. Dengan adanya sistem ini, diharapkan pelayanan informasi UKM menjadi lebih modern, terstruktur, dan mudah diakses oleh seluruh civitas akademika.</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1228656"/>
            <a:ext cx="18288000" cy="7829689"/>
            <a:chOff x="0" y="0"/>
            <a:chExt cx="24384000" cy="10439585"/>
          </a:xfrm>
        </p:grpSpPr>
        <p:grpSp>
          <p:nvGrpSpPr>
            <p:cNvPr name="Group 3" id="3"/>
            <p:cNvGrpSpPr/>
            <p:nvPr/>
          </p:nvGrpSpPr>
          <p:grpSpPr>
            <a:xfrm rot="0">
              <a:off x="0" y="0"/>
              <a:ext cx="594732" cy="10439585"/>
              <a:chOff x="0" y="0"/>
              <a:chExt cx="117478" cy="2062140"/>
            </a:xfrm>
          </p:grpSpPr>
          <p:sp>
            <p:nvSpPr>
              <p:cNvPr name="Freeform 4" id="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 id="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9463" y="0"/>
              <a:ext cx="594732" cy="10439585"/>
              <a:chOff x="0" y="0"/>
              <a:chExt cx="117478" cy="2062140"/>
            </a:xfrm>
          </p:grpSpPr>
          <p:sp>
            <p:nvSpPr>
              <p:cNvPr name="Freeform 7" id="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8" id="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378927" y="0"/>
              <a:ext cx="594732" cy="10439585"/>
              <a:chOff x="0" y="0"/>
              <a:chExt cx="117478" cy="2062140"/>
            </a:xfrm>
          </p:grpSpPr>
          <p:sp>
            <p:nvSpPr>
              <p:cNvPr name="Freeform 10" id="1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1" id="1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3568390" y="0"/>
              <a:ext cx="594732" cy="10439585"/>
              <a:chOff x="0" y="0"/>
              <a:chExt cx="117478" cy="2062140"/>
            </a:xfrm>
          </p:grpSpPr>
          <p:sp>
            <p:nvSpPr>
              <p:cNvPr name="Freeform 13" id="1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4" id="1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4757854" y="0"/>
              <a:ext cx="594732" cy="10439585"/>
              <a:chOff x="0" y="0"/>
              <a:chExt cx="117478" cy="2062140"/>
            </a:xfrm>
          </p:grpSpPr>
          <p:sp>
            <p:nvSpPr>
              <p:cNvPr name="Freeform 16" id="1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17" id="1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5947317" y="0"/>
              <a:ext cx="594732" cy="10439585"/>
              <a:chOff x="0" y="0"/>
              <a:chExt cx="117478" cy="2062140"/>
            </a:xfrm>
          </p:grpSpPr>
          <p:sp>
            <p:nvSpPr>
              <p:cNvPr name="Freeform 19" id="1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0" id="2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7136780" y="0"/>
              <a:ext cx="594732" cy="10439585"/>
              <a:chOff x="0" y="0"/>
              <a:chExt cx="117478" cy="2062140"/>
            </a:xfrm>
          </p:grpSpPr>
          <p:sp>
            <p:nvSpPr>
              <p:cNvPr name="Freeform 22" id="2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3" id="2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8326244" y="0"/>
              <a:ext cx="594732" cy="10439585"/>
              <a:chOff x="0" y="0"/>
              <a:chExt cx="117478" cy="2062140"/>
            </a:xfrm>
          </p:grpSpPr>
          <p:sp>
            <p:nvSpPr>
              <p:cNvPr name="Freeform 25" id="2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6" id="2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515707" y="0"/>
              <a:ext cx="594732" cy="10439585"/>
              <a:chOff x="0" y="0"/>
              <a:chExt cx="117478" cy="2062140"/>
            </a:xfrm>
          </p:grpSpPr>
          <p:sp>
            <p:nvSpPr>
              <p:cNvPr name="Freeform 28" id="2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29" id="2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705171" y="0"/>
              <a:ext cx="594732" cy="10439585"/>
              <a:chOff x="0" y="0"/>
              <a:chExt cx="117478" cy="2062140"/>
            </a:xfrm>
          </p:grpSpPr>
          <p:sp>
            <p:nvSpPr>
              <p:cNvPr name="Freeform 31" id="3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2" id="3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1894634" y="0"/>
              <a:ext cx="594732" cy="10439585"/>
              <a:chOff x="0" y="0"/>
              <a:chExt cx="117478" cy="2062140"/>
            </a:xfrm>
          </p:grpSpPr>
          <p:sp>
            <p:nvSpPr>
              <p:cNvPr name="Freeform 34" id="3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5" id="3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084098" y="0"/>
              <a:ext cx="594732" cy="10439585"/>
              <a:chOff x="0" y="0"/>
              <a:chExt cx="117478" cy="2062140"/>
            </a:xfrm>
          </p:grpSpPr>
          <p:sp>
            <p:nvSpPr>
              <p:cNvPr name="Freeform 37" id="37"/>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38" id="38"/>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4273561" y="0"/>
              <a:ext cx="594732" cy="10439585"/>
              <a:chOff x="0" y="0"/>
              <a:chExt cx="117478" cy="2062140"/>
            </a:xfrm>
          </p:grpSpPr>
          <p:sp>
            <p:nvSpPr>
              <p:cNvPr name="Freeform 40" id="40"/>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1" id="41"/>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5463024" y="0"/>
              <a:ext cx="594732" cy="10439585"/>
              <a:chOff x="0" y="0"/>
              <a:chExt cx="117478" cy="2062140"/>
            </a:xfrm>
          </p:grpSpPr>
          <p:sp>
            <p:nvSpPr>
              <p:cNvPr name="Freeform 43" id="43"/>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4" id="44"/>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16652488" y="0"/>
              <a:ext cx="594732" cy="10439585"/>
              <a:chOff x="0" y="0"/>
              <a:chExt cx="117478" cy="2062140"/>
            </a:xfrm>
          </p:grpSpPr>
          <p:sp>
            <p:nvSpPr>
              <p:cNvPr name="Freeform 46" id="46"/>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47" id="47"/>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7841951" y="0"/>
              <a:ext cx="594732" cy="10439585"/>
              <a:chOff x="0" y="0"/>
              <a:chExt cx="117478" cy="2062140"/>
            </a:xfrm>
          </p:grpSpPr>
          <p:sp>
            <p:nvSpPr>
              <p:cNvPr name="Freeform 49" id="49"/>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0" id="50"/>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9031415" y="0"/>
              <a:ext cx="594732" cy="10439585"/>
              <a:chOff x="0" y="0"/>
              <a:chExt cx="117478" cy="2062140"/>
            </a:xfrm>
          </p:grpSpPr>
          <p:sp>
            <p:nvSpPr>
              <p:cNvPr name="Freeform 52" id="52"/>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3" id="53"/>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20220878" y="0"/>
              <a:ext cx="594732" cy="10439585"/>
              <a:chOff x="0" y="0"/>
              <a:chExt cx="117478" cy="2062140"/>
            </a:xfrm>
          </p:grpSpPr>
          <p:sp>
            <p:nvSpPr>
              <p:cNvPr name="Freeform 55" id="55"/>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6" id="56"/>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21410341" y="0"/>
              <a:ext cx="594732" cy="10439585"/>
              <a:chOff x="0" y="0"/>
              <a:chExt cx="117478" cy="2062140"/>
            </a:xfrm>
          </p:grpSpPr>
          <p:sp>
            <p:nvSpPr>
              <p:cNvPr name="Freeform 58" id="58"/>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59" id="59"/>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22599805" y="0"/>
              <a:ext cx="594732" cy="10439585"/>
              <a:chOff x="0" y="0"/>
              <a:chExt cx="117478" cy="2062140"/>
            </a:xfrm>
          </p:grpSpPr>
          <p:sp>
            <p:nvSpPr>
              <p:cNvPr name="Freeform 61" id="61"/>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2" id="62"/>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nvGrpSpPr>
            <p:cNvPr name="Group 63" id="63"/>
            <p:cNvGrpSpPr/>
            <p:nvPr/>
          </p:nvGrpSpPr>
          <p:grpSpPr>
            <a:xfrm rot="0">
              <a:off x="23789268" y="0"/>
              <a:ext cx="594732" cy="10439585"/>
              <a:chOff x="0" y="0"/>
              <a:chExt cx="117478" cy="2062140"/>
            </a:xfrm>
          </p:grpSpPr>
          <p:sp>
            <p:nvSpPr>
              <p:cNvPr name="Freeform 64" id="64"/>
              <p:cNvSpPr/>
              <p:nvPr/>
            </p:nvSpPr>
            <p:spPr>
              <a:xfrm flipH="false" flipV="false" rot="0">
                <a:off x="0" y="0"/>
                <a:ext cx="117478" cy="2062140"/>
              </a:xfrm>
              <a:custGeom>
                <a:avLst/>
                <a:gdLst/>
                <a:ahLst/>
                <a:cxnLst/>
                <a:rect r="r" b="b" t="t" l="l"/>
                <a:pathLst>
                  <a:path h="2062140" w="117478">
                    <a:moveTo>
                      <a:pt x="0" y="0"/>
                    </a:moveTo>
                    <a:lnTo>
                      <a:pt x="117478" y="0"/>
                    </a:lnTo>
                    <a:lnTo>
                      <a:pt x="117478" y="2062140"/>
                    </a:lnTo>
                    <a:lnTo>
                      <a:pt x="0" y="2062140"/>
                    </a:lnTo>
                    <a:close/>
                  </a:path>
                </a:pathLst>
              </a:custGeom>
              <a:solidFill>
                <a:srgbClr val="F8F2E9">
                  <a:alpha val="45882"/>
                </a:srgbClr>
              </a:solidFill>
            </p:spPr>
          </p:sp>
          <p:sp>
            <p:nvSpPr>
              <p:cNvPr name="TextBox 65" id="65"/>
              <p:cNvSpPr txBox="true"/>
              <p:nvPr/>
            </p:nvSpPr>
            <p:spPr>
              <a:xfrm>
                <a:off x="0" y="-38100"/>
                <a:ext cx="117478" cy="2100240"/>
              </a:xfrm>
              <a:prstGeom prst="rect">
                <a:avLst/>
              </a:prstGeom>
            </p:spPr>
            <p:txBody>
              <a:bodyPr anchor="ctr" rtlCol="false" tIns="50800" lIns="50800" bIns="50800" rIns="50800"/>
              <a:lstStyle/>
              <a:p>
                <a:pPr algn="ctr">
                  <a:lnSpc>
                    <a:spcPts val="2659"/>
                  </a:lnSpc>
                </a:pPr>
              </a:p>
            </p:txBody>
          </p:sp>
        </p:grpSp>
      </p:grpSp>
      <p:grpSp>
        <p:nvGrpSpPr>
          <p:cNvPr name="Group 66" id="66"/>
          <p:cNvGrpSpPr/>
          <p:nvPr/>
        </p:nvGrpSpPr>
        <p:grpSpPr>
          <a:xfrm rot="0">
            <a:off x="3467227" y="2706403"/>
            <a:ext cx="11353546" cy="2716608"/>
            <a:chOff x="0" y="0"/>
            <a:chExt cx="2669793" cy="638812"/>
          </a:xfrm>
        </p:grpSpPr>
        <p:sp>
          <p:nvSpPr>
            <p:cNvPr name="Freeform 67" id="67"/>
            <p:cNvSpPr/>
            <p:nvPr/>
          </p:nvSpPr>
          <p:spPr>
            <a:xfrm flipH="false" flipV="false" rot="0">
              <a:off x="0" y="0"/>
              <a:ext cx="2669792" cy="638812"/>
            </a:xfrm>
            <a:custGeom>
              <a:avLst/>
              <a:gdLst/>
              <a:ahLst/>
              <a:cxnLst/>
              <a:rect r="r" b="b" t="t" l="l"/>
              <a:pathLst>
                <a:path h="638812" w="2669792">
                  <a:moveTo>
                    <a:pt x="1334896" y="0"/>
                  </a:moveTo>
                  <a:cubicBezTo>
                    <a:pt x="597653" y="0"/>
                    <a:pt x="0" y="143003"/>
                    <a:pt x="0" y="319406"/>
                  </a:cubicBezTo>
                  <a:cubicBezTo>
                    <a:pt x="0" y="495809"/>
                    <a:pt x="597653" y="638812"/>
                    <a:pt x="1334896" y="638812"/>
                  </a:cubicBezTo>
                  <a:cubicBezTo>
                    <a:pt x="2072139" y="638812"/>
                    <a:pt x="2669792" y="495809"/>
                    <a:pt x="2669792" y="319406"/>
                  </a:cubicBezTo>
                  <a:cubicBezTo>
                    <a:pt x="2669792" y="143003"/>
                    <a:pt x="2072139" y="0"/>
                    <a:pt x="1334896" y="0"/>
                  </a:cubicBezTo>
                  <a:close/>
                </a:path>
              </a:pathLst>
            </a:custGeom>
            <a:ln w="19050" cap="sq">
              <a:solidFill>
                <a:srgbClr val="000000"/>
              </a:solidFill>
              <a:prstDash val="solid"/>
              <a:miter/>
            </a:ln>
          </p:spPr>
        </p:sp>
        <p:sp>
          <p:nvSpPr>
            <p:cNvPr name="TextBox 68" id="68"/>
            <p:cNvSpPr txBox="true"/>
            <p:nvPr/>
          </p:nvSpPr>
          <p:spPr>
            <a:xfrm>
              <a:off x="250293" y="21789"/>
              <a:ext cx="2169206" cy="557135"/>
            </a:xfrm>
            <a:prstGeom prst="rect">
              <a:avLst/>
            </a:prstGeom>
          </p:spPr>
          <p:txBody>
            <a:bodyPr anchor="ctr" rtlCol="false" tIns="50800" lIns="50800" bIns="50800" rIns="50800"/>
            <a:lstStyle/>
            <a:p>
              <a:pPr algn="ctr">
                <a:lnSpc>
                  <a:spcPts val="2659"/>
                </a:lnSpc>
                <a:spcBef>
                  <a:spcPct val="0"/>
                </a:spcBef>
              </a:pPr>
            </a:p>
          </p:txBody>
        </p:sp>
      </p:grpSp>
      <p:sp>
        <p:nvSpPr>
          <p:cNvPr name="TextBox 69" id="69"/>
          <p:cNvSpPr txBox="true"/>
          <p:nvPr/>
        </p:nvSpPr>
        <p:spPr>
          <a:xfrm rot="0">
            <a:off x="1455766" y="2913429"/>
            <a:ext cx="15376468" cy="2813413"/>
          </a:xfrm>
          <a:prstGeom prst="rect">
            <a:avLst/>
          </a:prstGeom>
        </p:spPr>
        <p:txBody>
          <a:bodyPr anchor="t" rtlCol="false" tIns="0" lIns="0" bIns="0" rIns="0">
            <a:spAutoFit/>
          </a:bodyPr>
          <a:lstStyle/>
          <a:p>
            <a:pPr algn="ctr">
              <a:lnSpc>
                <a:spcPts val="19266"/>
              </a:lnSpc>
            </a:pPr>
            <a:r>
              <a:rPr lang="en-US" sz="24082" spc="-1541">
                <a:solidFill>
                  <a:srgbClr val="000000"/>
                </a:solidFill>
                <a:latin typeface="Arial"/>
                <a:ea typeface="Arial"/>
                <a:cs typeface="Arial"/>
                <a:sym typeface="Arial"/>
              </a:rPr>
              <a:t>Thank</a:t>
            </a:r>
          </a:p>
        </p:txBody>
      </p:sp>
      <p:grpSp>
        <p:nvGrpSpPr>
          <p:cNvPr name="Group 70" id="70"/>
          <p:cNvGrpSpPr/>
          <p:nvPr/>
        </p:nvGrpSpPr>
        <p:grpSpPr>
          <a:xfrm rot="0">
            <a:off x="3229946" y="2065704"/>
            <a:ext cx="959883" cy="940685"/>
            <a:chOff x="0" y="0"/>
            <a:chExt cx="635000" cy="622300"/>
          </a:xfrm>
        </p:grpSpPr>
        <p:sp>
          <p:nvSpPr>
            <p:cNvPr name="Freeform 71" id="71"/>
            <p:cNvSpPr/>
            <p:nvPr/>
          </p:nvSpPr>
          <p:spPr>
            <a:xfrm flipH="false" flipV="false" rot="0">
              <a:off x="0" y="0"/>
              <a:ext cx="635000" cy="622300"/>
            </a:xfrm>
            <a:custGeom>
              <a:avLst/>
              <a:gdLst/>
              <a:ahLst/>
              <a:cxnLst/>
              <a:rect r="r" b="b" t="t" l="l"/>
              <a:pathLst>
                <a:path h="622300" w="635000">
                  <a:moveTo>
                    <a:pt x="547370" y="62230"/>
                  </a:moveTo>
                  <a:lnTo>
                    <a:pt x="401320" y="267970"/>
                  </a:lnTo>
                  <a:lnTo>
                    <a:pt x="635000" y="346710"/>
                  </a:lnTo>
                  <a:lnTo>
                    <a:pt x="605790" y="445770"/>
                  </a:lnTo>
                  <a:lnTo>
                    <a:pt x="369570" y="367030"/>
                  </a:lnTo>
                  <a:lnTo>
                    <a:pt x="369570" y="622300"/>
                  </a:lnTo>
                  <a:lnTo>
                    <a:pt x="267970" y="622300"/>
                  </a:lnTo>
                  <a:lnTo>
                    <a:pt x="267970" y="367030"/>
                  </a:lnTo>
                  <a:lnTo>
                    <a:pt x="31750" y="445770"/>
                  </a:lnTo>
                  <a:lnTo>
                    <a:pt x="0" y="346710"/>
                  </a:lnTo>
                  <a:lnTo>
                    <a:pt x="236220" y="267970"/>
                  </a:lnTo>
                  <a:lnTo>
                    <a:pt x="90170" y="62230"/>
                  </a:lnTo>
                  <a:lnTo>
                    <a:pt x="172720" y="0"/>
                  </a:lnTo>
                  <a:lnTo>
                    <a:pt x="318770" y="205740"/>
                  </a:lnTo>
                  <a:lnTo>
                    <a:pt x="464820" y="0"/>
                  </a:lnTo>
                  <a:lnTo>
                    <a:pt x="547370" y="62230"/>
                  </a:lnTo>
                  <a:close/>
                </a:path>
              </a:pathLst>
            </a:custGeom>
            <a:solidFill>
              <a:srgbClr val="000000"/>
            </a:solidFill>
          </p:spPr>
        </p:sp>
        <p:sp>
          <p:nvSpPr>
            <p:cNvPr name="TextBox 72" id="72"/>
            <p:cNvSpPr txBox="true"/>
            <p:nvPr/>
          </p:nvSpPr>
          <p:spPr>
            <a:xfrm>
              <a:off x="146050" y="101600"/>
              <a:ext cx="342900" cy="381000"/>
            </a:xfrm>
            <a:prstGeom prst="rect">
              <a:avLst/>
            </a:prstGeom>
          </p:spPr>
          <p:txBody>
            <a:bodyPr anchor="ctr" rtlCol="false" tIns="50800" lIns="50800" bIns="50800" rIns="50800"/>
            <a:lstStyle/>
            <a:p>
              <a:pPr algn="ctr">
                <a:lnSpc>
                  <a:spcPts val="2700"/>
                </a:lnSpc>
              </a:pPr>
            </a:p>
          </p:txBody>
        </p:sp>
      </p:grpSp>
      <p:sp>
        <p:nvSpPr>
          <p:cNvPr name="TextBox 73" id="73"/>
          <p:cNvSpPr txBox="true"/>
          <p:nvPr/>
        </p:nvSpPr>
        <p:spPr>
          <a:xfrm rot="0">
            <a:off x="1455766" y="5469270"/>
            <a:ext cx="15376468" cy="2752026"/>
          </a:xfrm>
          <a:prstGeom prst="rect">
            <a:avLst/>
          </a:prstGeom>
        </p:spPr>
        <p:txBody>
          <a:bodyPr anchor="t" rtlCol="false" tIns="0" lIns="0" bIns="0" rIns="0">
            <a:spAutoFit/>
          </a:bodyPr>
          <a:lstStyle/>
          <a:p>
            <a:pPr algn="ctr">
              <a:lnSpc>
                <a:spcPts val="19266"/>
              </a:lnSpc>
            </a:pPr>
            <a:r>
              <a:rPr lang="en-US" sz="24082" i="true" spc="-1541">
                <a:solidFill>
                  <a:srgbClr val="000000"/>
                </a:solidFill>
                <a:latin typeface="Playfair Display Italics"/>
                <a:ea typeface="Playfair Display Italics"/>
                <a:cs typeface="Playfair Display Italics"/>
                <a:sym typeface="Playfair Display Italics"/>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DAHPduqwp4w</dc:identifier>
  <dcterms:modified xsi:type="dcterms:W3CDTF">2011-08-01T06:04:30Z</dcterms:modified>
  <cp:revision>1</cp:revision>
  <dc:title>PERANCANGAN BANGUN SISTEM INFORMASI PORTAL INFORMASI DAN PENDAFTARAN UKM BERBASIS WEB</dc:title>
</cp:coreProperties>
</file>